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22" d="100"/>
          <a:sy n="22" d="100"/>
        </p:scale>
        <p:origin x="2300" y="10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Financial%20Sample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Sheet2!$A$15:$A$20</c:f>
              <c:strCache>
                <c:ptCount val="5"/>
                <c:pt idx="0">
                  <c:v>United States of America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Sheet2!$B$15:$B$20</c:f>
              <c:numCache>
                <c:formatCode>[&lt;999999999]\$0.00,," M";General</c:formatCode>
                <c:ptCount val="5"/>
                <c:pt idx="0">
                  <c:v>25029830.165000014</c:v>
                </c:pt>
                <c:pt idx="1">
                  <c:v>24887654.885000005</c:v>
                </c:pt>
                <c:pt idx="2">
                  <c:v>24354172.280000009</c:v>
                </c:pt>
                <c:pt idx="3">
                  <c:v>23505340.820000011</c:v>
                </c:pt>
                <c:pt idx="4">
                  <c:v>20949352.109999999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B-4136-807F-C1F710BECA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1555583"/>
        <c:axId val="161556063"/>
      </c:barChart>
      <c:catAx>
        <c:axId val="1615555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6063"/>
        <c:crosses val="autoZero"/>
        <c:auto val="1"/>
        <c:lblAlgn val="ctr"/>
        <c:lblOffset val="100"/>
        <c:noMultiLvlLbl val="0"/>
      </c:catAx>
      <c:valAx>
        <c:axId val="16155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5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Revenue Trend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Sheet2!$L$14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multiLvlStrRef>
              <c:f>Sheet2!$K$15:$K$28</c:f>
              <c:multiLvlStrCache>
                <c:ptCount val="12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  <c:pt idx="4">
                    <c:v>May</c:v>
                  </c:pt>
                  <c:pt idx="5">
                    <c:v>June</c:v>
                  </c:pt>
                  <c:pt idx="6">
                    <c:v>July</c:v>
                  </c:pt>
                  <c:pt idx="7">
                    <c:v>August</c:v>
                  </c:pt>
                  <c:pt idx="8">
                    <c:v>September</c:v>
                  </c:pt>
                  <c:pt idx="9">
                    <c:v>October</c:v>
                  </c:pt>
                  <c:pt idx="10">
                    <c:v>November</c:v>
                  </c:pt>
                  <c:pt idx="11">
                    <c:v>December</c:v>
                  </c:pt>
                </c:lvl>
                <c:lvl>
                  <c:pt idx="0">
                    <c:v>2014</c:v>
                  </c:pt>
                </c:lvl>
              </c:multiLvlStrCache>
            </c:multiLvlStrRef>
          </c:cat>
          <c:val>
            <c:numRef>
              <c:f>Sheet2!$L$15:$L$28</c:f>
              <c:numCache>
                <c:formatCode>[&lt;999999999]\$0.00,," M";General</c:formatCode>
                <c:ptCount val="12"/>
                <c:pt idx="0">
                  <c:v>6607761.6799999997</c:v>
                </c:pt>
                <c:pt idx="1">
                  <c:v>7297531.3900000015</c:v>
                </c:pt>
                <c:pt idx="2">
                  <c:v>5586859.8699999982</c:v>
                </c:pt>
                <c:pt idx="3">
                  <c:v>6964775.0700000012</c:v>
                </c:pt>
                <c:pt idx="4">
                  <c:v>6210211.0599999987</c:v>
                </c:pt>
                <c:pt idx="5">
                  <c:v>9518893.8199999966</c:v>
                </c:pt>
                <c:pt idx="6">
                  <c:v>8102920.1800000016</c:v>
                </c:pt>
                <c:pt idx="7">
                  <c:v>5864622.4200000009</c:v>
                </c:pt>
                <c:pt idx="8">
                  <c:v>6398697.2400000012</c:v>
                </c:pt>
                <c:pt idx="9">
                  <c:v>12375819.920000002</c:v>
                </c:pt>
                <c:pt idx="10">
                  <c:v>5384214.1999999993</c:v>
                </c:pt>
                <c:pt idx="11">
                  <c:v>11998787.9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E4-4ED4-94EF-FE68A7F6A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114303"/>
        <c:axId val="226113343"/>
      </c:lineChart>
      <c:catAx>
        <c:axId val="22611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3343"/>
        <c:crosses val="autoZero"/>
        <c:auto val="1"/>
        <c:lblAlgn val="ctr"/>
        <c:lblOffset val="100"/>
        <c:noMultiLvlLbl val="0"/>
      </c:catAx>
      <c:valAx>
        <c:axId val="2261133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4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REVENUE</a:t>
            </a:r>
            <a:r>
              <a:rPr lang="en-US" baseline="0" dirty="0"/>
              <a:t> BY COUNTRY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Sheet2!$A$15:$A$20</c:f>
              <c:strCache>
                <c:ptCount val="5"/>
                <c:pt idx="0">
                  <c:v>United States of America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Sheet2!$B$15:$B$20</c:f>
              <c:numCache>
                <c:formatCode>[&lt;999999999]\$0.00,," M";General</c:formatCode>
                <c:ptCount val="5"/>
                <c:pt idx="0">
                  <c:v>25029830.165000014</c:v>
                </c:pt>
                <c:pt idx="1">
                  <c:v>24887654.885000005</c:v>
                </c:pt>
                <c:pt idx="2">
                  <c:v>24354172.280000009</c:v>
                </c:pt>
                <c:pt idx="3">
                  <c:v>23505340.820000011</c:v>
                </c:pt>
                <c:pt idx="4">
                  <c:v>20949352.109999999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3-4762-9AAB-582DD491F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1555583"/>
        <c:axId val="161556063"/>
      </c:barChart>
      <c:catAx>
        <c:axId val="1615555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6063"/>
        <c:crosses val="autoZero"/>
        <c:auto val="1"/>
        <c:lblAlgn val="ctr"/>
        <c:lblOffset val="100"/>
        <c:noMultiLvlLbl val="0"/>
      </c:catAx>
      <c:valAx>
        <c:axId val="16155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5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Sheet2!$A$4:$A$10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Sheet2!$B$4:$B$10</c:f>
              <c:numCache>
                <c:formatCode>[&lt;999999999]\$0.00,," M";General</c:formatCode>
                <c:ptCount val="6"/>
                <c:pt idx="0">
                  <c:v>28213706</c:v>
                </c:pt>
                <c:pt idx="1">
                  <c:v>17477313</c:v>
                </c:pt>
                <c:pt idx="2">
                  <c:v>15944067</c:v>
                </c:pt>
                <c:pt idx="3">
                  <c:v>14933012</c:v>
                </c:pt>
                <c:pt idx="4">
                  <c:v>13276047</c:v>
                </c:pt>
                <c:pt idx="5">
                  <c:v>11988503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CF-4E84-8A66-E3D40668D2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Sample.xlsx]Sheet2!PivotTable7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Revenue Trend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Sheet2!$L$14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multiLvlStrRef>
              <c:f>Sheet2!$K$15:$K$28</c:f>
              <c:multiLvlStrCache>
                <c:ptCount val="12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  <c:pt idx="4">
                    <c:v>May</c:v>
                  </c:pt>
                  <c:pt idx="5">
                    <c:v>June</c:v>
                  </c:pt>
                  <c:pt idx="6">
                    <c:v>July</c:v>
                  </c:pt>
                  <c:pt idx="7">
                    <c:v>August</c:v>
                  </c:pt>
                  <c:pt idx="8">
                    <c:v>September</c:v>
                  </c:pt>
                  <c:pt idx="9">
                    <c:v>October</c:v>
                  </c:pt>
                  <c:pt idx="10">
                    <c:v>November</c:v>
                  </c:pt>
                  <c:pt idx="11">
                    <c:v>December</c:v>
                  </c:pt>
                </c:lvl>
                <c:lvl>
                  <c:pt idx="0">
                    <c:v>2014</c:v>
                  </c:pt>
                </c:lvl>
              </c:multiLvlStrCache>
            </c:multiLvlStrRef>
          </c:cat>
          <c:val>
            <c:numRef>
              <c:f>Sheet2!$L$15:$L$28</c:f>
              <c:numCache>
                <c:formatCode>[&lt;999999999]\$0.00,," M";General</c:formatCode>
                <c:ptCount val="12"/>
                <c:pt idx="0">
                  <c:v>6607761.6799999997</c:v>
                </c:pt>
                <c:pt idx="1">
                  <c:v>7297531.3900000015</c:v>
                </c:pt>
                <c:pt idx="2">
                  <c:v>5586859.8699999982</c:v>
                </c:pt>
                <c:pt idx="3">
                  <c:v>6964775.0700000012</c:v>
                </c:pt>
                <c:pt idx="4">
                  <c:v>6210211.0599999987</c:v>
                </c:pt>
                <c:pt idx="5">
                  <c:v>9518893.8199999966</c:v>
                </c:pt>
                <c:pt idx="6">
                  <c:v>8102920.1800000016</c:v>
                </c:pt>
                <c:pt idx="7">
                  <c:v>5864622.4200000009</c:v>
                </c:pt>
                <c:pt idx="8">
                  <c:v>6398697.2400000012</c:v>
                </c:pt>
                <c:pt idx="9">
                  <c:v>12375819.920000002</c:v>
                </c:pt>
                <c:pt idx="10">
                  <c:v>5384214.1999999993</c:v>
                </c:pt>
                <c:pt idx="11">
                  <c:v>11998787.9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8A-420A-A706-5A00123DC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114303"/>
        <c:axId val="226113343"/>
      </c:lineChart>
      <c:catAx>
        <c:axId val="22611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3343"/>
        <c:crosses val="autoZero"/>
        <c:auto val="1"/>
        <c:lblAlgn val="ctr"/>
        <c:lblOffset val="100"/>
        <c:noMultiLvlLbl val="0"/>
      </c:catAx>
      <c:valAx>
        <c:axId val="2261133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Sheet2!$A$15:$A$20</c:f>
              <c:strCache>
                <c:ptCount val="5"/>
                <c:pt idx="0">
                  <c:v>United States of America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Sheet2!$B$15:$B$20</c:f>
              <c:numCache>
                <c:formatCode>[&lt;999999999]\$0.00,," M";General</c:formatCode>
                <c:ptCount val="5"/>
                <c:pt idx="0">
                  <c:v>25029830.165000014</c:v>
                </c:pt>
                <c:pt idx="1">
                  <c:v>24887654.885000005</c:v>
                </c:pt>
                <c:pt idx="2">
                  <c:v>24354172.280000009</c:v>
                </c:pt>
                <c:pt idx="3">
                  <c:v>23505340.820000011</c:v>
                </c:pt>
                <c:pt idx="4">
                  <c:v>20949352.109999999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3-4762-9AAB-582DD491F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1555583"/>
        <c:axId val="161556063"/>
      </c:barChart>
      <c:catAx>
        <c:axId val="1615555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6063"/>
        <c:crosses val="autoZero"/>
        <c:auto val="1"/>
        <c:lblAlgn val="ctr"/>
        <c:lblOffset val="100"/>
        <c:noMultiLvlLbl val="0"/>
      </c:catAx>
      <c:valAx>
        <c:axId val="16155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555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Sheet2!$A$4:$A$10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Sheet2!$B$4:$B$10</c:f>
              <c:numCache>
                <c:formatCode>[&lt;999999999]\$0.00,," M";General</c:formatCode>
                <c:ptCount val="6"/>
                <c:pt idx="0">
                  <c:v>28213706</c:v>
                </c:pt>
                <c:pt idx="1">
                  <c:v>17477313</c:v>
                </c:pt>
                <c:pt idx="2">
                  <c:v>15944067</c:v>
                </c:pt>
                <c:pt idx="3">
                  <c:v>14933012</c:v>
                </c:pt>
                <c:pt idx="4">
                  <c:v>13276047</c:v>
                </c:pt>
                <c:pt idx="5">
                  <c:v>11988503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30-4C78-8E6E-42BE4C02F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Sample.xlsx]Sheet2!PivotTable7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Revenue Trend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Sheet2!$L$14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multiLvlStrRef>
              <c:f>Sheet2!$K$15:$K$28</c:f>
              <c:multiLvlStrCache>
                <c:ptCount val="12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  <c:pt idx="4">
                    <c:v>May</c:v>
                  </c:pt>
                  <c:pt idx="5">
                    <c:v>June</c:v>
                  </c:pt>
                  <c:pt idx="6">
                    <c:v>July</c:v>
                  </c:pt>
                  <c:pt idx="7">
                    <c:v>August</c:v>
                  </c:pt>
                  <c:pt idx="8">
                    <c:v>September</c:v>
                  </c:pt>
                  <c:pt idx="9">
                    <c:v>October</c:v>
                  </c:pt>
                  <c:pt idx="10">
                    <c:v>November</c:v>
                  </c:pt>
                  <c:pt idx="11">
                    <c:v>December</c:v>
                  </c:pt>
                </c:lvl>
                <c:lvl>
                  <c:pt idx="0">
                    <c:v>2014</c:v>
                  </c:pt>
                </c:lvl>
              </c:multiLvlStrCache>
            </c:multiLvlStrRef>
          </c:cat>
          <c:val>
            <c:numRef>
              <c:f>Sheet2!$L$15:$L$28</c:f>
              <c:numCache>
                <c:formatCode>[&lt;999999999]\$0.00,," M";General</c:formatCode>
                <c:ptCount val="12"/>
                <c:pt idx="0">
                  <c:v>6607761.6799999997</c:v>
                </c:pt>
                <c:pt idx="1">
                  <c:v>7297531.3900000015</c:v>
                </c:pt>
                <c:pt idx="2">
                  <c:v>5586859.8699999982</c:v>
                </c:pt>
                <c:pt idx="3">
                  <c:v>6964775.0700000012</c:v>
                </c:pt>
                <c:pt idx="4">
                  <c:v>6210211.0599999987</c:v>
                </c:pt>
                <c:pt idx="5">
                  <c:v>9518893.8199999966</c:v>
                </c:pt>
                <c:pt idx="6">
                  <c:v>8102920.1800000016</c:v>
                </c:pt>
                <c:pt idx="7">
                  <c:v>5864622.4200000009</c:v>
                </c:pt>
                <c:pt idx="8">
                  <c:v>6398697.2400000012</c:v>
                </c:pt>
                <c:pt idx="9">
                  <c:v>12375819.920000002</c:v>
                </c:pt>
                <c:pt idx="10">
                  <c:v>5384214.1999999993</c:v>
                </c:pt>
                <c:pt idx="11">
                  <c:v>11998787.9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4-4E78-A48E-A1AA2B2AB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114303"/>
        <c:axId val="226113343"/>
      </c:lineChart>
      <c:catAx>
        <c:axId val="22611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3343"/>
        <c:crosses val="autoZero"/>
        <c:auto val="1"/>
        <c:lblAlgn val="ctr"/>
        <c:lblOffset val="100"/>
        <c:noMultiLvlLbl val="0"/>
      </c:catAx>
      <c:valAx>
        <c:axId val="2261133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11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[Financial Sample.xlsx]Sheet2!PivotTable6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PROFIT</a:t>
            </a:r>
            <a:r>
              <a:rPr lang="en-US" baseline="0" dirty="0"/>
              <a:t> BY PRODUCT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tint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tint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Sheet2!$L$4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422-472A-AAE4-5E975A1AA4FD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422-472A-AAE4-5E975A1AA4FD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422-472A-AAE4-5E975A1AA4FD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422-472A-AAE4-5E975A1AA4FD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422-472A-AAE4-5E975A1AA4FD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8422-472A-AAE4-5E975A1AA4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Sheet2!$K$5:$K$11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Amarilla</c:v>
                </c:pt>
                <c:pt idx="3">
                  <c:v>Velo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Sheet2!$L$5:$L$11</c:f>
              <c:numCache>
                <c:formatCode>[&lt;999999999]\$0.00,," M";General</c:formatCode>
                <c:ptCount val="6"/>
                <c:pt idx="0">
                  <c:v>4797437.9499999993</c:v>
                </c:pt>
                <c:pt idx="1">
                  <c:v>3034608.0200000005</c:v>
                </c:pt>
                <c:pt idx="2">
                  <c:v>2814104.06</c:v>
                </c:pt>
                <c:pt idx="3">
                  <c:v>2305992.4649999999</c:v>
                </c:pt>
                <c:pt idx="4">
                  <c:v>2114754.8800000004</c:v>
                </c:pt>
                <c:pt idx="5">
                  <c:v>1826804.8849999998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22-472A-AAE4-5E975A1AA4F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[Financial Sample.xlsx]Sheet2!PivotTable6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PROFIT</a:t>
            </a:r>
            <a:r>
              <a:rPr lang="en-US" baseline="0" dirty="0"/>
              <a:t> BY PRODUCT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tint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tint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Sheet2!$L$4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1F8-42A5-8777-7A5C5ECA85D7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1F8-42A5-8777-7A5C5ECA85D7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1F8-42A5-8777-7A5C5ECA85D7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1F8-42A5-8777-7A5C5ECA85D7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E1F8-42A5-8777-7A5C5ECA85D7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E1F8-42A5-8777-7A5C5ECA85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Sheet2!$K$5:$K$11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Amarilla</c:v>
                </c:pt>
                <c:pt idx="3">
                  <c:v>Velo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Sheet2!$L$5:$L$11</c:f>
              <c:numCache>
                <c:formatCode>[&lt;999999999]\$0.00,," M";General</c:formatCode>
                <c:ptCount val="6"/>
                <c:pt idx="0">
                  <c:v>4797437.9499999993</c:v>
                </c:pt>
                <c:pt idx="1">
                  <c:v>3034608.0200000005</c:v>
                </c:pt>
                <c:pt idx="2">
                  <c:v>2814104.06</c:v>
                </c:pt>
                <c:pt idx="3">
                  <c:v>2305992.4649999999</c:v>
                </c:pt>
                <c:pt idx="4">
                  <c:v>2114754.8800000004</c:v>
                </c:pt>
                <c:pt idx="5">
                  <c:v>1826804.8849999998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1F8-42A5-8777-7A5C5ECA85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Sheet2!$A$4:$A$10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Sheet2!$B$4:$B$10</c:f>
              <c:numCache>
                <c:formatCode>[&lt;999999999]\$0.00,," M";General</c:formatCode>
                <c:ptCount val="6"/>
                <c:pt idx="0">
                  <c:v>28213706</c:v>
                </c:pt>
                <c:pt idx="1">
                  <c:v>17477313</c:v>
                </c:pt>
                <c:pt idx="2">
                  <c:v>15944067</c:v>
                </c:pt>
                <c:pt idx="3">
                  <c:v>14933012</c:v>
                </c:pt>
                <c:pt idx="4">
                  <c:v>13276047</c:v>
                </c:pt>
                <c:pt idx="5">
                  <c:v>11988503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B-4AEE-B6A4-291977825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Sample.xlsx]Sheet2!PivotTable8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Sheet2!$O$14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Sheet2!$N$15:$N$20</c:f>
              <c:strCache>
                <c:ptCount val="5"/>
                <c:pt idx="0">
                  <c:v>Mexico</c:v>
                </c:pt>
                <c:pt idx="1">
                  <c:v>United States of America</c:v>
                </c:pt>
                <c:pt idx="2">
                  <c:v>Canada</c:v>
                </c:pt>
                <c:pt idx="3">
                  <c:v>Germany</c:v>
                </c:pt>
                <c:pt idx="4">
                  <c:v>France</c:v>
                </c:pt>
              </c:strCache>
            </c:strRef>
          </c:cat>
          <c:val>
            <c:numRef>
              <c:f>Sheet2!$O$15:$O$20</c:f>
              <c:numCache>
                <c:formatCode>[&lt;999999999]\$0.00,," M";General</c:formatCode>
                <c:ptCount val="5"/>
                <c:pt idx="0">
                  <c:v>2907523.1100000003</c:v>
                </c:pt>
                <c:pt idx="1">
                  <c:v>2995540.6649999991</c:v>
                </c:pt>
                <c:pt idx="2">
                  <c:v>3529228.8850000002</c:v>
                </c:pt>
                <c:pt idx="3">
                  <c:v>3680388.8200000008</c:v>
                </c:pt>
                <c:pt idx="4">
                  <c:v>3781020.7800000007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A-4CAE-B409-A9A3BF9C3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10937551"/>
        <c:axId val="2010936111"/>
      </c:barChart>
      <c:catAx>
        <c:axId val="20109375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6111"/>
        <c:crosses val="autoZero"/>
        <c:auto val="1"/>
        <c:lblAlgn val="ctr"/>
        <c:lblOffset val="100"/>
        <c:noMultiLvlLbl val="0"/>
      </c:catAx>
      <c:valAx>
        <c:axId val="2010936111"/>
        <c:scaling>
          <c:orientation val="minMax"/>
        </c:scaling>
        <c:delete val="0"/>
        <c:axPos val="b"/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[Financial Sample.xlsx]Sheet2!PivotTable6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PROFIT</a:t>
            </a:r>
            <a:r>
              <a:rPr lang="en-US" baseline="0" dirty="0"/>
              <a:t> BY PRODUCT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tint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tint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shade val="5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6.8559273840769902E-2"/>
              <c:y val="7.760352872557592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>
              <a:shade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9.3665135608049094E-2"/>
              <c:y val="-2.4886628754738991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shade val="9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1.4084426946631697E-2"/>
              <c:y val="-5.9769976669582968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525831146106734E-2"/>
              <c:y val="-3.9657699037620384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>
              <a:tint val="7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4370953630796118E-2"/>
              <c:y val="5.1684164479440069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4.9145669291338581E-2"/>
              <c:y val="6.0664916885389282E-2"/>
            </c:manualLayout>
          </c:layout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Sheet2!$L$4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1F8-42A5-8777-7A5C5ECA85D7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1F8-42A5-8777-7A5C5ECA85D7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1F8-42A5-8777-7A5C5ECA85D7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1F8-42A5-8777-7A5C5ECA85D7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E1F8-42A5-8777-7A5C5ECA85D7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E1F8-42A5-8777-7A5C5ECA85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Sheet2!$K$5:$K$11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Amarilla</c:v>
                </c:pt>
                <c:pt idx="3">
                  <c:v>Velo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Sheet2!$L$5:$L$11</c:f>
              <c:numCache>
                <c:formatCode>[&lt;999999999]\$0.00,," M";General</c:formatCode>
                <c:ptCount val="6"/>
                <c:pt idx="0">
                  <c:v>4797437.9499999993</c:v>
                </c:pt>
                <c:pt idx="1">
                  <c:v>3034608.0200000005</c:v>
                </c:pt>
                <c:pt idx="2">
                  <c:v>2814104.06</c:v>
                </c:pt>
                <c:pt idx="3">
                  <c:v>2305992.4649999999</c:v>
                </c:pt>
                <c:pt idx="4">
                  <c:v>2114754.8800000004</c:v>
                </c:pt>
                <c:pt idx="5">
                  <c:v>1826804.8849999998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1F8-42A5-8777-7A5C5ECA85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Sample.xlsx]Sheet2!PivotTable8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Sheet2!$O$14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Sheet2!$N$15:$N$20</c:f>
              <c:strCache>
                <c:ptCount val="5"/>
                <c:pt idx="0">
                  <c:v>Mexico</c:v>
                </c:pt>
                <c:pt idx="1">
                  <c:v>United States of America</c:v>
                </c:pt>
                <c:pt idx="2">
                  <c:v>Canada</c:v>
                </c:pt>
                <c:pt idx="3">
                  <c:v>Germany</c:v>
                </c:pt>
                <c:pt idx="4">
                  <c:v>France</c:v>
                </c:pt>
              </c:strCache>
            </c:strRef>
          </c:cat>
          <c:val>
            <c:numRef>
              <c:f>Sheet2!$O$15:$O$20</c:f>
              <c:numCache>
                <c:formatCode>[&lt;999999999]\$0.00,," M";General</c:formatCode>
                <c:ptCount val="5"/>
                <c:pt idx="0">
                  <c:v>2907523.1100000003</c:v>
                </c:pt>
                <c:pt idx="1">
                  <c:v>2995540.6649999991</c:v>
                </c:pt>
                <c:pt idx="2">
                  <c:v>3529228.8850000002</c:v>
                </c:pt>
                <c:pt idx="3">
                  <c:v>3680388.8200000008</c:v>
                </c:pt>
                <c:pt idx="4">
                  <c:v>3781020.7800000007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5-4865-9DB9-BC79953C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10937551"/>
        <c:axId val="2010936111"/>
      </c:barChart>
      <c:catAx>
        <c:axId val="20109375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6111"/>
        <c:crosses val="autoZero"/>
        <c:auto val="1"/>
        <c:lblAlgn val="ctr"/>
        <c:lblOffset val="100"/>
        <c:noMultiLvlLbl val="0"/>
      </c:catAx>
      <c:valAx>
        <c:axId val="2010936111"/>
        <c:scaling>
          <c:orientation val="minMax"/>
        </c:scaling>
        <c:delete val="0"/>
        <c:axPos val="b"/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PFOFIT BY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Sheet2!$I$35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Sheet2!$H$36:$H$41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Channel Partners</c:v>
                </c:pt>
                <c:pt idx="3">
                  <c:v>Midmarket</c:v>
                </c:pt>
                <c:pt idx="4">
                  <c:v>Enterprise</c:v>
                </c:pt>
              </c:strCache>
            </c:strRef>
          </c:cat>
          <c:val>
            <c:numRef>
              <c:f>Sheet2!$I$36:$I$41</c:f>
              <c:numCache>
                <c:formatCode>_(* #,##0.00_);_(* \(#,##0.00\);_(* "-"??_);_(@_)</c:formatCode>
                <c:ptCount val="5"/>
                <c:pt idx="0">
                  <c:v>11388173.169999985</c:v>
                </c:pt>
                <c:pt idx="1">
                  <c:v>4143168.5</c:v>
                </c:pt>
                <c:pt idx="2">
                  <c:v>1316803.1400000001</c:v>
                </c:pt>
                <c:pt idx="3">
                  <c:v>660103.07499999984</c:v>
                </c:pt>
                <c:pt idx="4">
                  <c:v>-614545.625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9D-4F6B-A9E5-A99FBF6F5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74770831"/>
        <c:axId val="1574768431"/>
      </c:barChart>
      <c:catAx>
        <c:axId val="157477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68431"/>
        <c:crosses val="autoZero"/>
        <c:auto val="1"/>
        <c:lblAlgn val="ctr"/>
        <c:lblOffset val="100"/>
        <c:noMultiLvlLbl val="0"/>
      </c:catAx>
      <c:valAx>
        <c:axId val="1574768431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7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Sample.xlsx]Sheet2!PivotTable8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9180157475222318"/>
          <c:y val="0.15804644003047402"/>
          <c:w val="0.6569727586597186"/>
          <c:h val="0.7637971339610647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Sheet2!$O$14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Sheet2!$N$15:$N$20</c:f>
              <c:strCache>
                <c:ptCount val="5"/>
                <c:pt idx="0">
                  <c:v>Mexico</c:v>
                </c:pt>
                <c:pt idx="1">
                  <c:v>United States of America</c:v>
                </c:pt>
                <c:pt idx="2">
                  <c:v>Canada</c:v>
                </c:pt>
                <c:pt idx="3">
                  <c:v>Germany</c:v>
                </c:pt>
                <c:pt idx="4">
                  <c:v>France</c:v>
                </c:pt>
              </c:strCache>
            </c:strRef>
          </c:cat>
          <c:val>
            <c:numRef>
              <c:f>Sheet2!$O$15:$O$20</c:f>
              <c:numCache>
                <c:formatCode>[&lt;999999999]\$0.00,," M";General</c:formatCode>
                <c:ptCount val="5"/>
                <c:pt idx="0">
                  <c:v>2907523.1100000003</c:v>
                </c:pt>
                <c:pt idx="1">
                  <c:v>2995540.6649999991</c:v>
                </c:pt>
                <c:pt idx="2">
                  <c:v>3529228.8850000002</c:v>
                </c:pt>
                <c:pt idx="3">
                  <c:v>3680388.8200000008</c:v>
                </c:pt>
                <c:pt idx="4">
                  <c:v>3781020.7800000007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5-4865-9DB9-BC79953CD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10937551"/>
        <c:axId val="2010936111"/>
      </c:barChart>
      <c:catAx>
        <c:axId val="20109375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6111"/>
        <c:crosses val="autoZero"/>
        <c:auto val="1"/>
        <c:lblAlgn val="ctr"/>
        <c:lblOffset val="100"/>
        <c:noMultiLvlLbl val="0"/>
      </c:catAx>
      <c:valAx>
        <c:axId val="2010936111"/>
        <c:scaling>
          <c:orientation val="minMax"/>
        </c:scaling>
        <c:delete val="0"/>
        <c:axPos val="b"/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3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PFOFIT BY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Sheet2!$I$35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Sheet2!$H$36:$H$41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Channel Partners</c:v>
                </c:pt>
                <c:pt idx="3">
                  <c:v>Midmarket</c:v>
                </c:pt>
                <c:pt idx="4">
                  <c:v>Enterprise</c:v>
                </c:pt>
              </c:strCache>
            </c:strRef>
          </c:cat>
          <c:val>
            <c:numRef>
              <c:f>Sheet2!$I$36:$I$41</c:f>
              <c:numCache>
                <c:formatCode>_(* #,##0.00_);_(* \(#,##0.00\);_(* "-"??_);_(@_)</c:formatCode>
                <c:ptCount val="5"/>
                <c:pt idx="0">
                  <c:v>11388173.169999985</c:v>
                </c:pt>
                <c:pt idx="1">
                  <c:v>4143168.5</c:v>
                </c:pt>
                <c:pt idx="2">
                  <c:v>1316803.1400000001</c:v>
                </c:pt>
                <c:pt idx="3">
                  <c:v>660103.07499999984</c:v>
                </c:pt>
                <c:pt idx="4">
                  <c:v>-614545.625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7-4DE5-A318-A52107B6A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74770831"/>
        <c:axId val="1574768431"/>
      </c:barChart>
      <c:catAx>
        <c:axId val="157477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68431"/>
        <c:crosses val="autoZero"/>
        <c:auto val="1"/>
        <c:lblAlgn val="ctr"/>
        <c:lblOffset val="100"/>
        <c:noMultiLvlLbl val="0"/>
      </c:catAx>
      <c:valAx>
        <c:axId val="1574768431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7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PRODUCT 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9239599"/>
        <c:axId val="90966175"/>
      </c:barChart>
      <c:catAx>
        <c:axId val="892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layout>
            <c:manualLayout>
              <c:xMode val="edge"/>
              <c:yMode val="edge"/>
              <c:x val="0.50288779527559058"/>
              <c:y val="0.8380344123651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66175"/>
        <c:crosses val="autoZero"/>
        <c:auto val="1"/>
        <c:lblAlgn val="ctr"/>
        <c:lblOffset val="100"/>
        <c:noMultiLvlLbl val="0"/>
      </c:catAx>
      <c:valAx>
        <c:axId val="90966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COGS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&lt;999999999]\$0.00,,&quot; M&quot;;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2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Sample.xlsx]Sheet2!PivotTable14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PFOFIT BY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flat" cmpd="sng" algn="ctr">
            <a:noFill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Sheet2!$I$35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Sheet2!$H$36:$H$41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Channel Partners</c:v>
                </c:pt>
                <c:pt idx="3">
                  <c:v>Midmarket</c:v>
                </c:pt>
                <c:pt idx="4">
                  <c:v>Enterprise</c:v>
                </c:pt>
              </c:strCache>
            </c:strRef>
          </c:cat>
          <c:val>
            <c:numRef>
              <c:f>Sheet2!$I$36:$I$41</c:f>
              <c:numCache>
                <c:formatCode>_(* #,##0.00_);_(* \(#,##0.00\);_(* "-"??_);_(@_)</c:formatCode>
                <c:ptCount val="5"/>
                <c:pt idx="0">
                  <c:v>11388173.169999985</c:v>
                </c:pt>
                <c:pt idx="1">
                  <c:v>4143168.5</c:v>
                </c:pt>
                <c:pt idx="2">
                  <c:v>1316803.1400000001</c:v>
                </c:pt>
                <c:pt idx="3">
                  <c:v>660103.07499999984</c:v>
                </c:pt>
                <c:pt idx="4">
                  <c:v>-614545.625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7-4DE5-A318-A52107B6A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74770831"/>
        <c:axId val="1574768431"/>
      </c:barChart>
      <c:catAx>
        <c:axId val="157477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68431"/>
        <c:crosses val="autoZero"/>
        <c:auto val="1"/>
        <c:lblAlgn val="ctr"/>
        <c:lblOffset val="100"/>
        <c:noMultiLvlLbl val="0"/>
      </c:catAx>
      <c:valAx>
        <c:axId val="1574768431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77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5284-FE94-41C0-2716-3900105B8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CE16E-133B-56BD-370A-866A92461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1B58-8E04-D723-6217-5A9F10D9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26216-9D40-81D3-BFAA-2DE8304B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7EF8D-58BA-13B2-75FF-3C853F86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ED6F-0F67-3431-632C-04D617C3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2E1D-4A76-4630-7798-5112668E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CDE84-9A7E-77FC-8BB5-B4D9A117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F6664-3303-5C9F-81A4-04E5344A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68E8F-39D0-D02F-459C-DB90B437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6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8FDE-8AE7-23F4-01EF-46AC5234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56877-F5A7-10FC-B755-6432060E7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32108-BBAE-2F41-F541-5B927528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71A8-CC66-E014-1427-DE8334D5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70670-CFB8-8B52-C850-C8D76477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3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5BEB-697A-9841-10D3-6FFCDD5E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C3329-99DC-5AAF-61AC-0EFAEDE8F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ABC70-AF44-65F9-4254-66DBB7590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DD13B-2E24-B6CB-A8F3-FE0984E1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9CE0C-79FA-7061-5C63-50F39A30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40362-1E94-DD94-26CA-95B923A6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9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90A0-C410-6722-2F95-D69C9EA5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E63DF-1C55-A63C-2C91-948D67596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49FED-6687-456F-A38A-FA3D55478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7E299-02AD-98C9-B9A5-07FBEF55A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1197E-F88C-C110-10DA-509587767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33D63-611C-1211-FB69-7688F74C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586DC-3757-8772-A5B2-0ADA2999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9AE5F-092A-1C83-00C7-1282E032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0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CBBC-C8AE-C322-1BC2-D83FF504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B748E-12C1-152F-5504-B20521DE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7F0A3-9D76-68EA-92D4-77E15F9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0EAE5-5399-8167-338F-2E83FDB5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0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71213-ECCC-D145-B71F-C2E20D0A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B6DBF-892F-0C6D-2F88-6ED7B7E2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7FB89-0431-C91C-18FC-08B6B44B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6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2A71-8266-8D58-A949-4FAF1E68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C5DF-4599-665F-AFDA-F4F0FCE1C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3E9D3-F390-BE2A-E4B2-2CBAE6A06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53187-9F0A-B50B-3645-776C7EEF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4A273-A5DF-A1C9-32A1-76C9AB40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0E75E-03F8-5AF9-B755-1D9B9F1E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10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B4BB-95A1-6221-8E2A-15F19800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73E1A-DA42-E58E-186B-0C519CCCF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C0158-E47A-192D-07FA-C869B9C24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B1C32-7E8C-2467-614C-51634935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4B5D7-36CE-4B0C-14C4-C0DDD78D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18BC7-4574-28F7-E1CB-3C084962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5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8F51-1EFD-4303-5441-30F24DC9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94DAB-61C0-A278-52D3-FC09C1DE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B921E-A2E0-CEF7-2179-56264FC5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CE0D-5690-C420-0E17-336876D4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23B3-0611-DA49-3E5B-D36C93AD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7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FB3A8-4BB7-08EC-1246-B8B65711F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95A41-435E-0094-656C-A759A9089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36542-F7CB-2692-FEE1-FFA34C01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562D3-F9FA-8EE2-321A-120B040B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D35DC-3D08-E2A6-A038-F171F2DA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1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B2167-008E-E4F2-FBF5-1F9B7A1E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97140-7536-1F22-2CBA-F9B2D283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74102-4418-44B5-9617-6D9A734B4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36303-8908-466D-A099-BAD1E3D266F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6CCA6-7F5C-2135-AC68-4C481139D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B3ECD-4DA1-FEA8-E4AC-1F5CEF1DD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ACBF6-3A30-409A-935F-0229EAA44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3959455" y="261002"/>
            <a:ext cx="6787796" cy="6817047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D08D76-B6D8-99F2-007B-541515EAD936}"/>
              </a:ext>
            </a:extLst>
          </p:cNvPr>
          <p:cNvSpPr txBox="1"/>
          <p:nvPr/>
        </p:nvSpPr>
        <p:spPr>
          <a:xfrm>
            <a:off x="20548" y="1335640"/>
            <a:ext cx="53014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APEX  MANUFACTURING LTD.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4E3495-40A5-312F-5574-9785A63416BB}"/>
              </a:ext>
            </a:extLst>
          </p:cNvPr>
          <p:cNvSpPr txBox="1"/>
          <p:nvPr/>
        </p:nvSpPr>
        <p:spPr>
          <a:xfrm>
            <a:off x="276477" y="4145314"/>
            <a:ext cx="4859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FINANCIAL ANALYSIS REPORT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6980FC7-78A5-1266-A124-49E01EEB97F5}"/>
              </a:ext>
            </a:extLst>
          </p:cNvPr>
          <p:cNvSpPr/>
          <p:nvPr/>
        </p:nvSpPr>
        <p:spPr>
          <a:xfrm>
            <a:off x="477520" y="9784915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$16.89 M</a:t>
            </a:r>
            <a:r>
              <a:rPr lang="en-US" sz="2000" b="1" dirty="0"/>
              <a:t>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7E8E34-CADE-D708-E18F-B79DB0F3EA73}"/>
              </a:ext>
            </a:extLst>
          </p:cNvPr>
          <p:cNvSpPr/>
          <p:nvPr/>
        </p:nvSpPr>
        <p:spPr>
          <a:xfrm>
            <a:off x="6096000" y="11269810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$118.73 M</a:t>
            </a:r>
            <a:r>
              <a:rPr lang="en-US" sz="2000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B18D6-CA9F-6F6B-5294-3705FAC18560}"/>
              </a:ext>
            </a:extLst>
          </p:cNvPr>
          <p:cNvSpPr txBox="1"/>
          <p:nvPr/>
        </p:nvSpPr>
        <p:spPr>
          <a:xfrm>
            <a:off x="615727" y="11936555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CE6AE-841F-1112-16CC-30CBF13C595A}"/>
              </a:ext>
            </a:extLst>
          </p:cNvPr>
          <p:cNvSpPr txBox="1"/>
          <p:nvPr/>
        </p:nvSpPr>
        <p:spPr>
          <a:xfrm>
            <a:off x="6160858" y="13382186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PROFIT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4E8D2-6A80-0AA9-9207-6D33AFBD6E7B}"/>
              </a:ext>
            </a:extLst>
          </p:cNvPr>
          <p:cNvSpPr txBox="1"/>
          <p:nvPr/>
        </p:nvSpPr>
        <p:spPr>
          <a:xfrm>
            <a:off x="477520" y="7128540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EXECUTIVE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DEBD2-B8AD-DDD9-7FAE-F2B8B5ABDA95}"/>
              </a:ext>
            </a:extLst>
          </p:cNvPr>
          <p:cNvSpPr txBox="1"/>
          <p:nvPr/>
        </p:nvSpPr>
        <p:spPr>
          <a:xfrm>
            <a:off x="1474413" y="14827817"/>
            <a:ext cx="785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Best performing product: </a:t>
            </a:r>
            <a:r>
              <a:rPr lang="en-US" b="1" dirty="0">
                <a:solidFill>
                  <a:schemeClr val="bg1"/>
                </a:solidFill>
              </a:rPr>
              <a:t>Paseo.</a:t>
            </a:r>
          </a:p>
          <a:p>
            <a:r>
              <a:rPr lang="en-US" dirty="0">
                <a:solidFill>
                  <a:schemeClr val="bg1"/>
                </a:solidFill>
              </a:rPr>
              <a:t>Most profitable segment: </a:t>
            </a:r>
            <a:r>
              <a:rPr lang="en-US" b="1" dirty="0">
                <a:solidFill>
                  <a:schemeClr val="bg1"/>
                </a:solidFill>
              </a:rPr>
              <a:t>Government.</a:t>
            </a:r>
          </a:p>
          <a:p>
            <a:r>
              <a:rPr lang="en-US" dirty="0">
                <a:solidFill>
                  <a:schemeClr val="bg1"/>
                </a:solidFill>
              </a:rPr>
              <a:t>Enterprise segment generated a loss and requires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4198967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7332326" y="1"/>
            <a:ext cx="4859676" cy="4425695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D08D76-B6D8-99F2-007B-541515EAD936}"/>
              </a:ext>
            </a:extLst>
          </p:cNvPr>
          <p:cNvSpPr txBox="1"/>
          <p:nvPr/>
        </p:nvSpPr>
        <p:spPr>
          <a:xfrm>
            <a:off x="-11043898" y="726083"/>
            <a:ext cx="53014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APEX  MANUFACTURING LTD.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4E3495-40A5-312F-5574-9785A63416BB}"/>
              </a:ext>
            </a:extLst>
          </p:cNvPr>
          <p:cNvSpPr txBox="1"/>
          <p:nvPr/>
        </p:nvSpPr>
        <p:spPr>
          <a:xfrm>
            <a:off x="-11391370" y="3836158"/>
            <a:ext cx="4859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FINANCIAL ANALYSIS REPORT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B84E274-D0F2-A9F5-6BD1-16968950A88B}"/>
              </a:ext>
            </a:extLst>
          </p:cNvPr>
          <p:cNvSpPr/>
          <p:nvPr/>
        </p:nvSpPr>
        <p:spPr>
          <a:xfrm>
            <a:off x="274320" y="3169920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$16.89 M</a:t>
            </a:r>
            <a:r>
              <a:rPr lang="en-US" sz="2000" b="1" dirty="0"/>
              <a:t>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964725-AE8F-6C7C-6F37-2316761DA29D}"/>
              </a:ext>
            </a:extLst>
          </p:cNvPr>
          <p:cNvSpPr/>
          <p:nvPr/>
        </p:nvSpPr>
        <p:spPr>
          <a:xfrm>
            <a:off x="6096000" y="3169920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$118.73 M</a:t>
            </a:r>
            <a:r>
              <a:rPr lang="en-US" sz="2000" b="1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DD98E3-9741-0432-BCA7-2AA081828802}"/>
              </a:ext>
            </a:extLst>
          </p:cNvPr>
          <p:cNvSpPr txBox="1"/>
          <p:nvPr/>
        </p:nvSpPr>
        <p:spPr>
          <a:xfrm>
            <a:off x="499730" y="5092995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SALES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D04CF-D141-D48B-9F3C-6E44EC91FC82}"/>
              </a:ext>
            </a:extLst>
          </p:cNvPr>
          <p:cNvSpPr txBox="1"/>
          <p:nvPr/>
        </p:nvSpPr>
        <p:spPr>
          <a:xfrm>
            <a:off x="6225717" y="5092995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PROFIT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5120C-3965-E271-5DF3-45B1071BD0F7}"/>
              </a:ext>
            </a:extLst>
          </p:cNvPr>
          <p:cNvSpPr txBox="1"/>
          <p:nvPr/>
        </p:nvSpPr>
        <p:spPr>
          <a:xfrm>
            <a:off x="274320" y="372140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EXECUTIVE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6772F-C260-B153-D0AA-93ED0DB4AE1A}"/>
              </a:ext>
            </a:extLst>
          </p:cNvPr>
          <p:cNvSpPr txBox="1"/>
          <p:nvPr/>
        </p:nvSpPr>
        <p:spPr>
          <a:xfrm>
            <a:off x="274319" y="5720316"/>
            <a:ext cx="785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Best performing product: </a:t>
            </a:r>
            <a:r>
              <a:rPr lang="en-US" b="1" dirty="0">
                <a:solidFill>
                  <a:schemeClr val="bg1"/>
                </a:solidFill>
              </a:rPr>
              <a:t>Paseo.</a:t>
            </a:r>
          </a:p>
          <a:p>
            <a:r>
              <a:rPr lang="en-US" dirty="0">
                <a:solidFill>
                  <a:schemeClr val="bg1"/>
                </a:solidFill>
              </a:rPr>
              <a:t>Most profitable segment: </a:t>
            </a:r>
            <a:r>
              <a:rPr lang="en-US" b="1" dirty="0">
                <a:solidFill>
                  <a:schemeClr val="bg1"/>
                </a:solidFill>
              </a:rPr>
              <a:t>Government.</a:t>
            </a:r>
          </a:p>
          <a:p>
            <a:r>
              <a:rPr lang="en-US" dirty="0">
                <a:solidFill>
                  <a:schemeClr val="bg1"/>
                </a:solidFill>
              </a:rPr>
              <a:t>Enterprise segment generated a loss and requires further investigation.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C822E-7E43-B04F-5E72-EF62EE06140A}"/>
              </a:ext>
            </a:extLst>
          </p:cNvPr>
          <p:cNvSpPr txBox="1"/>
          <p:nvPr/>
        </p:nvSpPr>
        <p:spPr>
          <a:xfrm>
            <a:off x="-2861241" y="-3655750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REVENUE ANALYSIS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66EB33B-41D1-B808-9BDA-C9580C459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8956230"/>
              </p:ext>
            </p:extLst>
          </p:nvPr>
        </p:nvGraphicFramePr>
        <p:xfrm>
          <a:off x="-1215780" y="8312144"/>
          <a:ext cx="4572000" cy="303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62E2D49-DDE9-859D-731F-A020BE7D6D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9559071"/>
              </p:ext>
            </p:extLst>
          </p:nvPr>
        </p:nvGraphicFramePr>
        <p:xfrm>
          <a:off x="13806724" y="1746758"/>
          <a:ext cx="7211122" cy="3215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E116C4-A22F-5A1E-EB5B-C71B98CC195D}"/>
              </a:ext>
            </a:extLst>
          </p:cNvPr>
          <p:cNvSpPr txBox="1"/>
          <p:nvPr/>
        </p:nvSpPr>
        <p:spPr>
          <a:xfrm>
            <a:off x="5108332" y="9487064"/>
            <a:ext cx="745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Revenue increased significantly during the final quarter of the year, with </a:t>
            </a:r>
            <a:r>
              <a:rPr lang="en-US" b="1" dirty="0">
                <a:solidFill>
                  <a:schemeClr val="bg1"/>
                </a:solidFill>
              </a:rPr>
              <a:t>October</a:t>
            </a:r>
            <a:r>
              <a:rPr lang="en-US" dirty="0">
                <a:solidFill>
                  <a:schemeClr val="bg1"/>
                </a:solidFill>
              </a:rPr>
              <a:t> and</a:t>
            </a:r>
            <a:r>
              <a:rPr lang="en-US" b="1" dirty="0">
                <a:solidFill>
                  <a:schemeClr val="bg1"/>
                </a:solidFill>
              </a:rPr>
              <a:t> December </a:t>
            </a:r>
            <a:r>
              <a:rPr lang="en-US" dirty="0">
                <a:solidFill>
                  <a:schemeClr val="bg1"/>
                </a:solidFill>
              </a:rPr>
              <a:t>producing the highest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01434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5120C-3965-E271-5DF3-45B1071BD0F7}"/>
              </a:ext>
            </a:extLst>
          </p:cNvPr>
          <p:cNvSpPr txBox="1"/>
          <p:nvPr/>
        </p:nvSpPr>
        <p:spPr>
          <a:xfrm>
            <a:off x="274320" y="372140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REVENUE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37EEE33-8535-4C20-81FF-E53B3473C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1681"/>
              </p:ext>
            </p:extLst>
          </p:nvPr>
        </p:nvGraphicFramePr>
        <p:xfrm>
          <a:off x="212101" y="2102809"/>
          <a:ext cx="4572000" cy="303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352D0-7FB7-DB39-13A9-65CE6675121B}"/>
              </a:ext>
            </a:extLst>
          </p:cNvPr>
          <p:cNvSpPr txBox="1"/>
          <p:nvPr/>
        </p:nvSpPr>
        <p:spPr>
          <a:xfrm>
            <a:off x="274320" y="5694647"/>
            <a:ext cx="745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Revenue increased significantly during the final quarter of the year, with </a:t>
            </a:r>
            <a:r>
              <a:rPr lang="en-US" b="1" dirty="0">
                <a:solidFill>
                  <a:schemeClr val="bg1"/>
                </a:solidFill>
              </a:rPr>
              <a:t>October</a:t>
            </a:r>
            <a:r>
              <a:rPr lang="en-US" dirty="0">
                <a:solidFill>
                  <a:schemeClr val="bg1"/>
                </a:solidFill>
              </a:rPr>
              <a:t> and</a:t>
            </a:r>
            <a:r>
              <a:rPr lang="en-US" b="1" dirty="0">
                <a:solidFill>
                  <a:schemeClr val="bg1"/>
                </a:solidFill>
              </a:rPr>
              <a:t> December </a:t>
            </a:r>
            <a:r>
              <a:rPr lang="en-US" dirty="0">
                <a:solidFill>
                  <a:schemeClr val="bg1"/>
                </a:solidFill>
              </a:rPr>
              <a:t>producing the highest sales performance.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E34DEE-E169-4361-E20C-AF63A8A7D851}"/>
              </a:ext>
            </a:extLst>
          </p:cNvPr>
          <p:cNvSpPr txBox="1"/>
          <p:nvPr/>
        </p:nvSpPr>
        <p:spPr>
          <a:xfrm>
            <a:off x="-11789036" y="2110438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SALES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31A0C-B80C-3CB1-9AFF-BAB475F912CA}"/>
              </a:ext>
            </a:extLst>
          </p:cNvPr>
          <p:cNvSpPr txBox="1"/>
          <p:nvPr/>
        </p:nvSpPr>
        <p:spPr>
          <a:xfrm>
            <a:off x="-7570697" y="4822994"/>
            <a:ext cx="17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TOTAL PROFIT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E07529-79B1-97DD-59BB-AC17DA900C4A}"/>
              </a:ext>
            </a:extLst>
          </p:cNvPr>
          <p:cNvSpPr txBox="1"/>
          <p:nvPr/>
        </p:nvSpPr>
        <p:spPr>
          <a:xfrm>
            <a:off x="0" y="9471151"/>
            <a:ext cx="785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Best performing product: </a:t>
            </a:r>
            <a:r>
              <a:rPr lang="en-US" b="1" dirty="0">
                <a:solidFill>
                  <a:schemeClr val="bg1"/>
                </a:solidFill>
              </a:rPr>
              <a:t>Paseo.</a:t>
            </a:r>
          </a:p>
          <a:p>
            <a:r>
              <a:rPr lang="en-US" dirty="0">
                <a:solidFill>
                  <a:schemeClr val="bg1"/>
                </a:solidFill>
              </a:rPr>
              <a:t>Most profitable segment: </a:t>
            </a:r>
            <a:r>
              <a:rPr lang="en-US" b="1" dirty="0">
                <a:solidFill>
                  <a:schemeClr val="bg1"/>
                </a:solidFill>
              </a:rPr>
              <a:t>Government.</a:t>
            </a:r>
          </a:p>
          <a:p>
            <a:r>
              <a:rPr lang="en-US" dirty="0">
                <a:solidFill>
                  <a:schemeClr val="bg1"/>
                </a:solidFill>
              </a:rPr>
              <a:t>Enterprise segment generated a loss and requires further investigation.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09D05-47DA-2A6A-F51D-F1234B983751}"/>
              </a:ext>
            </a:extLst>
          </p:cNvPr>
          <p:cNvSpPr/>
          <p:nvPr/>
        </p:nvSpPr>
        <p:spPr>
          <a:xfrm>
            <a:off x="-12014446" y="249637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$16.89 M</a:t>
            </a:r>
            <a:r>
              <a:rPr lang="en-US" sz="2000" b="1" dirty="0"/>
              <a:t>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D1CA1D-3318-5845-7EFB-EBA472CD796F}"/>
              </a:ext>
            </a:extLst>
          </p:cNvPr>
          <p:cNvSpPr/>
          <p:nvPr/>
        </p:nvSpPr>
        <p:spPr>
          <a:xfrm>
            <a:off x="-7700414" y="2962193"/>
            <a:ext cx="1847088" cy="17922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$118.73 M</a:t>
            </a:r>
            <a:r>
              <a:rPr lang="en-US" sz="2000" b="1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A23F59-471C-A91C-2AAF-ED90C101A863}"/>
              </a:ext>
            </a:extLst>
          </p:cNvPr>
          <p:cNvSpPr txBox="1"/>
          <p:nvPr/>
        </p:nvSpPr>
        <p:spPr>
          <a:xfrm>
            <a:off x="-6190826" y="-4242481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EXECUTIVE 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BEE94-BE6B-52B2-2875-A603E130A1A0}"/>
              </a:ext>
            </a:extLst>
          </p:cNvPr>
          <p:cNvSpPr txBox="1"/>
          <p:nvPr/>
        </p:nvSpPr>
        <p:spPr>
          <a:xfrm>
            <a:off x="800306" y="-2673107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EXPENSE ANALYSIS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3A4A2A8B-E79E-6F6A-A972-D4768845E8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8136227"/>
              </p:ext>
            </p:extLst>
          </p:nvPr>
        </p:nvGraphicFramePr>
        <p:xfrm>
          <a:off x="11842415" y="7575717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AF5F219-815A-A2F5-0A55-A223BE6DB752}"/>
              </a:ext>
            </a:extLst>
          </p:cNvPr>
          <p:cNvSpPr txBox="1"/>
          <p:nvPr/>
        </p:nvSpPr>
        <p:spPr>
          <a:xfrm>
            <a:off x="4119227" y="8119452"/>
            <a:ext cx="6356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 </a:t>
            </a:r>
            <a:r>
              <a:rPr lang="en-US" dirty="0">
                <a:solidFill>
                  <a:schemeClr val="bg1"/>
                </a:solidFill>
              </a:rPr>
              <a:t>generated the highest production costs, showing its high volume and market demand</a:t>
            </a:r>
          </a:p>
          <a:p>
            <a:r>
              <a:rPr lang="en-US" dirty="0">
                <a:solidFill>
                  <a:srgbClr val="FFFF00"/>
                </a:solidFill>
              </a:rPr>
              <a:t>TOTAL DISCOUNTS: </a:t>
            </a:r>
            <a:r>
              <a:rPr lang="en-US" dirty="0">
                <a:solidFill>
                  <a:schemeClr val="bg1"/>
                </a:solidFill>
              </a:rPr>
              <a:t>$9.21 M</a:t>
            </a:r>
          </a:p>
          <a:p>
            <a:r>
              <a:rPr lang="en-US" dirty="0">
                <a:solidFill>
                  <a:schemeClr val="bg1"/>
                </a:solidFill>
              </a:rPr>
              <a:t>The company granted $9.21 M in discounts, which </a:t>
            </a:r>
            <a:r>
              <a:rPr lang="en-US" dirty="0" err="1">
                <a:solidFill>
                  <a:schemeClr val="bg1"/>
                </a:solidFill>
              </a:rPr>
              <a:t>mau</a:t>
            </a:r>
            <a:r>
              <a:rPr lang="en-US" dirty="0">
                <a:solidFill>
                  <a:schemeClr val="bg1"/>
                </a:solidFill>
              </a:rPr>
              <a:t> have affected profitability in certain segments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29BC39C0-3910-45C7-A362-BC9C68DA1E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9364266"/>
              </p:ext>
            </p:extLst>
          </p:nvPr>
        </p:nvGraphicFramePr>
        <p:xfrm>
          <a:off x="5298141" y="2037881"/>
          <a:ext cx="6777317" cy="3367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2131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5120C-3965-E271-5DF3-45B1071BD0F7}"/>
              </a:ext>
            </a:extLst>
          </p:cNvPr>
          <p:cNvSpPr txBox="1"/>
          <p:nvPr/>
        </p:nvSpPr>
        <p:spPr>
          <a:xfrm>
            <a:off x="-11838652" y="-3451149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REVENUE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37EEE33-8535-4C20-81FF-E53B3473C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806004"/>
              </p:ext>
            </p:extLst>
          </p:nvPr>
        </p:nvGraphicFramePr>
        <p:xfrm>
          <a:off x="-10370235" y="5617674"/>
          <a:ext cx="4572000" cy="303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07BEF7-8CB7-C43C-EF24-F0265C030A9D}"/>
              </a:ext>
            </a:extLst>
          </p:cNvPr>
          <p:cNvSpPr txBox="1"/>
          <p:nvPr/>
        </p:nvSpPr>
        <p:spPr>
          <a:xfrm>
            <a:off x="401677" y="10052283"/>
            <a:ext cx="745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Revenue increased significantly during the final quarter of the year, with </a:t>
            </a:r>
            <a:r>
              <a:rPr lang="en-US" b="1" dirty="0">
                <a:solidFill>
                  <a:schemeClr val="bg1"/>
                </a:solidFill>
              </a:rPr>
              <a:t>October</a:t>
            </a:r>
            <a:r>
              <a:rPr lang="en-US" dirty="0">
                <a:solidFill>
                  <a:schemeClr val="bg1"/>
                </a:solidFill>
              </a:rPr>
              <a:t> and</a:t>
            </a:r>
            <a:r>
              <a:rPr lang="en-US" b="1" dirty="0">
                <a:solidFill>
                  <a:schemeClr val="bg1"/>
                </a:solidFill>
              </a:rPr>
              <a:t> December </a:t>
            </a:r>
            <a:r>
              <a:rPr lang="en-US" dirty="0">
                <a:solidFill>
                  <a:schemeClr val="bg1"/>
                </a:solidFill>
              </a:rPr>
              <a:t>producing the highest sales performance.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3E29BA-6DE4-DD91-4A00-B534EB9AFC33}"/>
              </a:ext>
            </a:extLst>
          </p:cNvPr>
          <p:cNvSpPr txBox="1"/>
          <p:nvPr/>
        </p:nvSpPr>
        <p:spPr>
          <a:xfrm>
            <a:off x="231556" y="450629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EXPENSE ANALYSIS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25793F1-F19E-443D-822C-F48CE3B439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3357059"/>
              </p:ext>
            </p:extLst>
          </p:nvPr>
        </p:nvGraphicFramePr>
        <p:xfrm>
          <a:off x="2796232" y="1389161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E7179DB-1220-3962-860F-C7FFA7A53347}"/>
              </a:ext>
            </a:extLst>
          </p:cNvPr>
          <p:cNvSpPr txBox="1"/>
          <p:nvPr/>
        </p:nvSpPr>
        <p:spPr>
          <a:xfrm>
            <a:off x="2796232" y="5255227"/>
            <a:ext cx="6356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 </a:t>
            </a:r>
            <a:r>
              <a:rPr lang="en-US" dirty="0">
                <a:solidFill>
                  <a:schemeClr val="bg1"/>
                </a:solidFill>
              </a:rPr>
              <a:t>generated the highest production costs, showing its high volume and market demand</a:t>
            </a:r>
          </a:p>
          <a:p>
            <a:r>
              <a:rPr lang="en-US" dirty="0">
                <a:solidFill>
                  <a:srgbClr val="FFFF00"/>
                </a:solidFill>
              </a:rPr>
              <a:t>TOTAL DISCOUNTS: </a:t>
            </a:r>
            <a:r>
              <a:rPr lang="en-US" dirty="0">
                <a:solidFill>
                  <a:schemeClr val="bg1"/>
                </a:solidFill>
              </a:rPr>
              <a:t>$9.21 M</a:t>
            </a:r>
          </a:p>
          <a:p>
            <a:r>
              <a:rPr lang="en-US" dirty="0">
                <a:solidFill>
                  <a:schemeClr val="bg1"/>
                </a:solidFill>
              </a:rPr>
              <a:t>The company granted $9.21 M in discounts, which </a:t>
            </a:r>
            <a:r>
              <a:rPr lang="en-US" dirty="0" err="1">
                <a:solidFill>
                  <a:schemeClr val="bg1"/>
                </a:solidFill>
              </a:rPr>
              <a:t>mau</a:t>
            </a:r>
            <a:r>
              <a:rPr lang="en-US" dirty="0">
                <a:solidFill>
                  <a:schemeClr val="bg1"/>
                </a:solidFill>
              </a:rPr>
              <a:t> have affected profitability in certain segments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97B1CBC-E114-9701-A131-361F3302EC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454637"/>
              </p:ext>
            </p:extLst>
          </p:nvPr>
        </p:nvGraphicFramePr>
        <p:xfrm>
          <a:off x="14947467" y="2543208"/>
          <a:ext cx="6777317" cy="3367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2BB3E1-7021-CD8F-6AD9-371BFCDCBFC0}"/>
              </a:ext>
            </a:extLst>
          </p:cNvPr>
          <p:cNvSpPr txBox="1"/>
          <p:nvPr/>
        </p:nvSpPr>
        <p:spPr>
          <a:xfrm>
            <a:off x="-4369019" y="-2459920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DE3FCF2-2992-42A6-66C6-6D4670977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7057426"/>
              </p:ext>
            </p:extLst>
          </p:nvPr>
        </p:nvGraphicFramePr>
        <p:xfrm>
          <a:off x="-6367655" y="4756763"/>
          <a:ext cx="6172199" cy="3847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D36C95-1931-12FD-4A48-586719869708}"/>
              </a:ext>
            </a:extLst>
          </p:cNvPr>
          <p:cNvSpPr txBox="1"/>
          <p:nvPr/>
        </p:nvSpPr>
        <p:spPr>
          <a:xfrm>
            <a:off x="7005937" y="9590618"/>
            <a:ext cx="4294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</a:t>
            </a:r>
            <a:r>
              <a:rPr lang="en-US" dirty="0">
                <a:solidFill>
                  <a:schemeClr val="bg1"/>
                </a:solidFill>
              </a:rPr>
              <a:t> was the most profitable product, generating $4.8 M in profit accounting for 28% of total profit</a:t>
            </a:r>
          </a:p>
        </p:txBody>
      </p:sp>
    </p:spTree>
    <p:extLst>
      <p:ext uri="{BB962C8B-B14F-4D97-AF65-F5344CB8AC3E}">
        <p14:creationId xmlns:p14="http://schemas.microsoft.com/office/powerpoint/2010/main" val="244834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8FFD24-BFCA-C8B8-04D8-5F4793860B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304115"/>
              </p:ext>
            </p:extLst>
          </p:nvPr>
        </p:nvGraphicFramePr>
        <p:xfrm>
          <a:off x="2497668" y="1909534"/>
          <a:ext cx="6172199" cy="3847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A2FFD4-CED7-5D91-1D50-6D4765C771E9}"/>
              </a:ext>
            </a:extLst>
          </p:cNvPr>
          <p:cNvSpPr txBox="1"/>
          <p:nvPr/>
        </p:nvSpPr>
        <p:spPr>
          <a:xfrm>
            <a:off x="604157" y="5757332"/>
            <a:ext cx="4294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</a:t>
            </a:r>
            <a:r>
              <a:rPr lang="en-US" dirty="0">
                <a:solidFill>
                  <a:schemeClr val="bg1"/>
                </a:solidFill>
              </a:rPr>
              <a:t> was the most profitable product, generating $4.8 M in profit accounting for 28% of total profit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32C78-0BC0-E266-08F0-063207ACC90F}"/>
              </a:ext>
            </a:extLst>
          </p:cNvPr>
          <p:cNvSpPr txBox="1"/>
          <p:nvPr/>
        </p:nvSpPr>
        <p:spPr>
          <a:xfrm>
            <a:off x="-5026244" y="-1558021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EXPENSE ANALYSIS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98AFCC1-277F-9615-66B8-CFA791EA61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99027"/>
              </p:ext>
            </p:extLst>
          </p:nvPr>
        </p:nvGraphicFramePr>
        <p:xfrm>
          <a:off x="13611378" y="1533566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07B5622-6F16-2A92-88E3-7C2432E79438}"/>
              </a:ext>
            </a:extLst>
          </p:cNvPr>
          <p:cNvSpPr txBox="1"/>
          <p:nvPr/>
        </p:nvSpPr>
        <p:spPr>
          <a:xfrm>
            <a:off x="2676436" y="10085778"/>
            <a:ext cx="6356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 </a:t>
            </a:r>
            <a:r>
              <a:rPr lang="en-US" dirty="0">
                <a:solidFill>
                  <a:schemeClr val="bg1"/>
                </a:solidFill>
              </a:rPr>
              <a:t>generated the highest production costs, showing its high volume and market demand</a:t>
            </a:r>
          </a:p>
          <a:p>
            <a:r>
              <a:rPr lang="en-US" dirty="0">
                <a:solidFill>
                  <a:srgbClr val="FFFF00"/>
                </a:solidFill>
              </a:rPr>
              <a:t>TOTAL DISCOUNTS: </a:t>
            </a:r>
            <a:r>
              <a:rPr lang="en-US" dirty="0">
                <a:solidFill>
                  <a:schemeClr val="bg1"/>
                </a:solidFill>
              </a:rPr>
              <a:t>$9.21 M</a:t>
            </a:r>
          </a:p>
          <a:p>
            <a:r>
              <a:rPr lang="en-US" dirty="0">
                <a:solidFill>
                  <a:schemeClr val="bg1"/>
                </a:solidFill>
              </a:rPr>
              <a:t>The company granted $9.21 M in discounts, which </a:t>
            </a:r>
            <a:r>
              <a:rPr lang="en-US" dirty="0" err="1">
                <a:solidFill>
                  <a:schemeClr val="bg1"/>
                </a:solidFill>
              </a:rPr>
              <a:t>mau</a:t>
            </a:r>
            <a:r>
              <a:rPr lang="en-US" dirty="0">
                <a:solidFill>
                  <a:schemeClr val="bg1"/>
                </a:solidFill>
              </a:rPr>
              <a:t> have affected profitability in certain segments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D99B-0E65-1361-DA10-720614638891}"/>
              </a:ext>
            </a:extLst>
          </p:cNvPr>
          <p:cNvSpPr txBox="1"/>
          <p:nvPr/>
        </p:nvSpPr>
        <p:spPr>
          <a:xfrm>
            <a:off x="284240" y="438948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8BA6D-4F08-08E0-5E48-01A9953785F6}"/>
              </a:ext>
            </a:extLst>
          </p:cNvPr>
          <p:cNvSpPr txBox="1"/>
          <p:nvPr/>
        </p:nvSpPr>
        <p:spPr>
          <a:xfrm>
            <a:off x="-12335539" y="-142090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8F99FD6-A02D-52C3-B0F6-8A94C42931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9963205"/>
              </p:ext>
            </p:extLst>
          </p:nvPr>
        </p:nvGraphicFramePr>
        <p:xfrm>
          <a:off x="-11393664" y="2539844"/>
          <a:ext cx="6555698" cy="383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F822EE-5BBC-8C9D-610F-D0B1A5F3C82A}"/>
              </a:ext>
            </a:extLst>
          </p:cNvPr>
          <p:cNvSpPr txBox="1"/>
          <p:nvPr/>
        </p:nvSpPr>
        <p:spPr>
          <a:xfrm>
            <a:off x="-4837966" y="8525901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France</a:t>
            </a:r>
            <a:r>
              <a:rPr lang="en-US" dirty="0">
                <a:solidFill>
                  <a:schemeClr val="bg1"/>
                </a:solidFill>
              </a:rPr>
              <a:t> generated the highest profit despite not having the highest sales revenue, indicating strong margins</a:t>
            </a:r>
          </a:p>
        </p:txBody>
      </p:sp>
    </p:spTree>
    <p:extLst>
      <p:ext uri="{BB962C8B-B14F-4D97-AF65-F5344CB8AC3E}">
        <p14:creationId xmlns:p14="http://schemas.microsoft.com/office/powerpoint/2010/main" val="127733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8FFD24-BFCA-C8B8-04D8-5F4793860B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8033110"/>
              </p:ext>
            </p:extLst>
          </p:nvPr>
        </p:nvGraphicFramePr>
        <p:xfrm>
          <a:off x="16284818" y="1114114"/>
          <a:ext cx="6172199" cy="3847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A2FFD4-CED7-5D91-1D50-6D4765C771E9}"/>
              </a:ext>
            </a:extLst>
          </p:cNvPr>
          <p:cNvSpPr txBox="1"/>
          <p:nvPr/>
        </p:nvSpPr>
        <p:spPr>
          <a:xfrm>
            <a:off x="12837582" y="9890776"/>
            <a:ext cx="4294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</a:t>
            </a:r>
            <a:r>
              <a:rPr lang="en-US" dirty="0">
                <a:solidFill>
                  <a:schemeClr val="bg1"/>
                </a:solidFill>
              </a:rPr>
              <a:t> was the most profitable product, generating $4.8 M in profit accounting for 28% of total profit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32C78-0BC0-E266-08F0-063207ACC90F}"/>
              </a:ext>
            </a:extLst>
          </p:cNvPr>
          <p:cNvSpPr txBox="1"/>
          <p:nvPr/>
        </p:nvSpPr>
        <p:spPr>
          <a:xfrm>
            <a:off x="-5026244" y="-1558021"/>
            <a:ext cx="640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EXPENSE ANALYSIS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98AFCC1-277F-9615-66B8-CFA791EA6110}"/>
              </a:ext>
            </a:extLst>
          </p:cNvPr>
          <p:cNvGraphicFramePr>
            <a:graphicFrameLocks/>
          </p:cNvGraphicFramePr>
          <p:nvPr/>
        </p:nvGraphicFramePr>
        <p:xfrm>
          <a:off x="13611378" y="1533566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07B5622-6F16-2A92-88E3-7C2432E79438}"/>
              </a:ext>
            </a:extLst>
          </p:cNvPr>
          <p:cNvSpPr txBox="1"/>
          <p:nvPr/>
        </p:nvSpPr>
        <p:spPr>
          <a:xfrm>
            <a:off x="2676436" y="10085778"/>
            <a:ext cx="6356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Paseo </a:t>
            </a:r>
            <a:r>
              <a:rPr lang="en-US" dirty="0">
                <a:solidFill>
                  <a:schemeClr val="bg1"/>
                </a:solidFill>
              </a:rPr>
              <a:t>generated the highest production costs, showing its high volume and market demand</a:t>
            </a:r>
          </a:p>
          <a:p>
            <a:r>
              <a:rPr lang="en-US" dirty="0">
                <a:solidFill>
                  <a:srgbClr val="FFFF00"/>
                </a:solidFill>
              </a:rPr>
              <a:t>TOTAL DISCOUNTS: </a:t>
            </a:r>
            <a:r>
              <a:rPr lang="en-US" dirty="0">
                <a:solidFill>
                  <a:schemeClr val="bg1"/>
                </a:solidFill>
              </a:rPr>
              <a:t>$9.21 M</a:t>
            </a:r>
          </a:p>
          <a:p>
            <a:r>
              <a:rPr lang="en-US" dirty="0">
                <a:solidFill>
                  <a:schemeClr val="bg1"/>
                </a:solidFill>
              </a:rPr>
              <a:t>The company granted $9.21 M in discounts, which </a:t>
            </a:r>
            <a:r>
              <a:rPr lang="en-US" dirty="0" err="1">
                <a:solidFill>
                  <a:schemeClr val="bg1"/>
                </a:solidFill>
              </a:rPr>
              <a:t>mau</a:t>
            </a:r>
            <a:r>
              <a:rPr lang="en-US" dirty="0">
                <a:solidFill>
                  <a:schemeClr val="bg1"/>
                </a:solidFill>
              </a:rPr>
              <a:t> have affected profitability in certain segments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D99B-0E65-1361-DA10-720614638891}"/>
              </a:ext>
            </a:extLst>
          </p:cNvPr>
          <p:cNvSpPr txBox="1"/>
          <p:nvPr/>
        </p:nvSpPr>
        <p:spPr>
          <a:xfrm>
            <a:off x="284240" y="438948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1075F1-DE21-F741-274F-8F90D7A36B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183827"/>
              </p:ext>
            </p:extLst>
          </p:nvPr>
        </p:nvGraphicFramePr>
        <p:xfrm>
          <a:off x="1376683" y="2032183"/>
          <a:ext cx="6555698" cy="383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F3175A-D869-8754-BB20-1B515F5FED37}"/>
              </a:ext>
            </a:extLst>
          </p:cNvPr>
          <p:cNvSpPr txBox="1"/>
          <p:nvPr/>
        </p:nvSpPr>
        <p:spPr>
          <a:xfrm>
            <a:off x="472518" y="6050435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France</a:t>
            </a:r>
            <a:r>
              <a:rPr lang="en-US" dirty="0">
                <a:solidFill>
                  <a:schemeClr val="bg1"/>
                </a:solidFill>
              </a:rPr>
              <a:t> generated the highest profit despite not having the highest sales revenue, indicating strong margins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AE755-EF34-DAAB-B1BF-02287A9742C8}"/>
              </a:ext>
            </a:extLst>
          </p:cNvPr>
          <p:cNvSpPr txBox="1"/>
          <p:nvPr/>
        </p:nvSpPr>
        <p:spPr>
          <a:xfrm>
            <a:off x="-11429171" y="2197195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0B87C-2B7C-829B-4C7F-801ED60B3A13}"/>
              </a:ext>
            </a:extLst>
          </p:cNvPr>
          <p:cNvSpPr txBox="1"/>
          <p:nvPr/>
        </p:nvSpPr>
        <p:spPr>
          <a:xfrm>
            <a:off x="-8813963" y="10440812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Government </a:t>
            </a:r>
            <a:r>
              <a:rPr lang="en-US" dirty="0">
                <a:solidFill>
                  <a:schemeClr val="bg1"/>
                </a:solidFill>
              </a:rPr>
              <a:t>segment was the primary profit driver, while the </a:t>
            </a:r>
            <a:r>
              <a:rPr lang="en-US" b="1" dirty="0">
                <a:solidFill>
                  <a:schemeClr val="bg1"/>
                </a:solidFill>
              </a:rPr>
              <a:t> Enterprise </a:t>
            </a:r>
            <a:r>
              <a:rPr lang="en-US" dirty="0">
                <a:solidFill>
                  <a:schemeClr val="bg1"/>
                </a:solidFill>
              </a:rPr>
              <a:t>recorded a loss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A1A567D-4A30-57CC-D9E8-5D7CB6F28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990376"/>
              </p:ext>
            </p:extLst>
          </p:nvPr>
        </p:nvGraphicFramePr>
        <p:xfrm>
          <a:off x="-13116748" y="5867581"/>
          <a:ext cx="6555697" cy="3687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12562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98AFCC1-277F-9615-66B8-CFA791EA6110}"/>
              </a:ext>
            </a:extLst>
          </p:cNvPr>
          <p:cNvGraphicFramePr>
            <a:graphicFrameLocks/>
          </p:cNvGraphicFramePr>
          <p:nvPr/>
        </p:nvGraphicFramePr>
        <p:xfrm>
          <a:off x="13611378" y="1533566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E8D99B-0E65-1361-DA10-720614638891}"/>
              </a:ext>
            </a:extLst>
          </p:cNvPr>
          <p:cNvSpPr txBox="1"/>
          <p:nvPr/>
        </p:nvSpPr>
        <p:spPr>
          <a:xfrm>
            <a:off x="-12275313" y="-1865798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1075F1-DE21-F741-274F-8F90D7A36B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819053"/>
              </p:ext>
            </p:extLst>
          </p:nvPr>
        </p:nvGraphicFramePr>
        <p:xfrm>
          <a:off x="-12500529" y="-6275625"/>
          <a:ext cx="6555698" cy="3835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F3175A-D869-8754-BB20-1B515F5FED37}"/>
              </a:ext>
            </a:extLst>
          </p:cNvPr>
          <p:cNvSpPr txBox="1"/>
          <p:nvPr/>
        </p:nvSpPr>
        <p:spPr>
          <a:xfrm>
            <a:off x="-14534400" y="8067494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France</a:t>
            </a:r>
            <a:r>
              <a:rPr lang="en-US" dirty="0">
                <a:solidFill>
                  <a:schemeClr val="bg1"/>
                </a:solidFill>
              </a:rPr>
              <a:t> generated the highest profit despite not having the highest sales revenue, indicating strong margins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EE08A-4638-A8CC-D95D-A21C6D25066B}"/>
              </a:ext>
            </a:extLst>
          </p:cNvPr>
          <p:cNvSpPr txBox="1"/>
          <p:nvPr/>
        </p:nvSpPr>
        <p:spPr>
          <a:xfrm>
            <a:off x="231555" y="451348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36D32-90CF-CBD6-4C82-F1A02C48E042}"/>
              </a:ext>
            </a:extLst>
          </p:cNvPr>
          <p:cNvSpPr txBox="1"/>
          <p:nvPr/>
        </p:nvSpPr>
        <p:spPr>
          <a:xfrm>
            <a:off x="231555" y="5930248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Government </a:t>
            </a:r>
            <a:r>
              <a:rPr lang="en-US" dirty="0">
                <a:solidFill>
                  <a:schemeClr val="bg1"/>
                </a:solidFill>
              </a:rPr>
              <a:t>segment was the primary profit driver, while the </a:t>
            </a:r>
            <a:r>
              <a:rPr lang="en-US" b="1" dirty="0">
                <a:solidFill>
                  <a:schemeClr val="bg1"/>
                </a:solidFill>
              </a:rPr>
              <a:t> Enterprise </a:t>
            </a:r>
            <a:r>
              <a:rPr lang="en-US" dirty="0">
                <a:solidFill>
                  <a:schemeClr val="bg1"/>
                </a:solidFill>
              </a:rPr>
              <a:t>recorded a loss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1EA1A0F-1D4A-3E96-A5A7-4B90DE2A5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929965"/>
              </p:ext>
            </p:extLst>
          </p:nvPr>
        </p:nvGraphicFramePr>
        <p:xfrm>
          <a:off x="2517829" y="2057400"/>
          <a:ext cx="6555697" cy="3687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DDFE753-93FB-48B5-4962-9466BFE1E1BB}"/>
              </a:ext>
            </a:extLst>
          </p:cNvPr>
          <p:cNvSpPr txBox="1"/>
          <p:nvPr/>
        </p:nvSpPr>
        <p:spPr>
          <a:xfrm>
            <a:off x="-7333439" y="-191598"/>
            <a:ext cx="6145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EE2FB-58D4-87B2-A943-05A2FAB60311}"/>
              </a:ext>
            </a:extLst>
          </p:cNvPr>
          <p:cNvSpPr txBox="1"/>
          <p:nvPr/>
        </p:nvSpPr>
        <p:spPr>
          <a:xfrm>
            <a:off x="-9221096" y="667935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Increase investment in the Government segment because it generates the largest share of the profit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B4870-BC99-3F82-9AE8-EF54CEDAFFDF}"/>
              </a:ext>
            </a:extLst>
          </p:cNvPr>
          <p:cNvSpPr txBox="1"/>
          <p:nvPr/>
        </p:nvSpPr>
        <p:spPr>
          <a:xfrm>
            <a:off x="-13025402" y="1726101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Expand sales of </a:t>
            </a:r>
            <a:r>
              <a:rPr lang="en-US" b="1" dirty="0">
                <a:solidFill>
                  <a:schemeClr val="bg1"/>
                </a:solidFill>
              </a:rPr>
              <a:t>Paseo</a:t>
            </a:r>
            <a:r>
              <a:rPr lang="en-US" dirty="0">
                <a:solidFill>
                  <a:schemeClr val="bg1"/>
                </a:solidFill>
              </a:rPr>
              <a:t> products due to their strong profitability.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7E6F2-FC91-E216-EB12-C9611FF50A9A}"/>
              </a:ext>
            </a:extLst>
          </p:cNvPr>
          <p:cNvSpPr txBox="1"/>
          <p:nvPr/>
        </p:nvSpPr>
        <p:spPr>
          <a:xfrm>
            <a:off x="-13767484" y="3192300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Investigate the </a:t>
            </a:r>
            <a:r>
              <a:rPr lang="en-US" b="1" dirty="0">
                <a:solidFill>
                  <a:schemeClr val="bg1"/>
                </a:solidFill>
              </a:rPr>
              <a:t>Enterprise </a:t>
            </a:r>
            <a:r>
              <a:rPr lang="en-US" dirty="0">
                <a:solidFill>
                  <a:schemeClr val="bg1"/>
                </a:solidFill>
              </a:rPr>
              <a:t>segment so as to determine why it is producing losses.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CA747-AF1C-016E-E51E-935BCDDEC048}"/>
              </a:ext>
            </a:extLst>
          </p:cNvPr>
          <p:cNvSpPr txBox="1"/>
          <p:nvPr/>
        </p:nvSpPr>
        <p:spPr>
          <a:xfrm>
            <a:off x="-15448356" y="4827154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Review discount policies and assess whether discounting is reducing profit margins unnecessarily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9BB14-68DF-A31D-73B2-421183A4EE86}"/>
              </a:ext>
            </a:extLst>
          </p:cNvPr>
          <p:cNvSpPr txBox="1"/>
          <p:nvPr/>
        </p:nvSpPr>
        <p:spPr>
          <a:xfrm>
            <a:off x="-16479077" y="6109474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Focus marketing efforts during Q4, when revenue is historically strongest.</a:t>
            </a:r>
          </a:p>
        </p:txBody>
      </p:sp>
    </p:spTree>
    <p:extLst>
      <p:ext uri="{BB962C8B-B14F-4D97-AF65-F5344CB8AC3E}">
        <p14:creationId xmlns:p14="http://schemas.microsoft.com/office/powerpoint/2010/main" val="4737506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74000">
              <a:schemeClr val="tx1">
                <a:lumMod val="95000"/>
                <a:lumOff val="5000"/>
              </a:schemeClr>
            </a:gs>
            <a:gs pos="83000">
              <a:schemeClr val="tx1">
                <a:lumMod val="95000"/>
                <a:lumOff val="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6C3313FC-6102-724B-853D-FE485019FADB}"/>
              </a:ext>
            </a:extLst>
          </p:cNvPr>
          <p:cNvSpPr/>
          <p:nvPr/>
        </p:nvSpPr>
        <p:spPr>
          <a:xfrm>
            <a:off x="9359590" y="2"/>
            <a:ext cx="2832412" cy="2274848"/>
          </a:xfrm>
          <a:custGeom>
            <a:avLst/>
            <a:gdLst>
              <a:gd name="connsiteX0" fmla="*/ 4316865 w 6472675"/>
              <a:gd name="connsiteY0" fmla="*/ 4369377 h 6817047"/>
              <a:gd name="connsiteX1" fmla="*/ 4783429 w 6472675"/>
              <a:gd name="connsiteY1" fmla="*/ 4810649 h 6817047"/>
              <a:gd name="connsiteX2" fmla="*/ 4316865 w 6472675"/>
              <a:gd name="connsiteY2" fmla="*/ 5251921 h 6817047"/>
              <a:gd name="connsiteX3" fmla="*/ 3850301 w 6472675"/>
              <a:gd name="connsiteY3" fmla="*/ 4810649 h 6817047"/>
              <a:gd name="connsiteX4" fmla="*/ 4316865 w 6472675"/>
              <a:gd name="connsiteY4" fmla="*/ 4369377 h 6817047"/>
              <a:gd name="connsiteX5" fmla="*/ 6472675 w 6472675"/>
              <a:gd name="connsiteY5" fmla="*/ 3239551 h 6817047"/>
              <a:gd name="connsiteX6" fmla="*/ 6472675 w 6472675"/>
              <a:gd name="connsiteY6" fmla="*/ 5184754 h 6817047"/>
              <a:gd name="connsiteX7" fmla="*/ 5304612 w 6472675"/>
              <a:gd name="connsiteY7" fmla="*/ 6592548 h 6817047"/>
              <a:gd name="connsiteX8" fmla="*/ 4430104 w 6472675"/>
              <a:gd name="connsiteY8" fmla="*/ 6673937 h 6817047"/>
              <a:gd name="connsiteX9" fmla="*/ 4430105 w 6472675"/>
              <a:gd name="connsiteY9" fmla="*/ 6673937 h 6817047"/>
              <a:gd name="connsiteX10" fmla="*/ 4348716 w 6472675"/>
              <a:gd name="connsiteY10" fmla="*/ 5799428 h 6817047"/>
              <a:gd name="connsiteX11" fmla="*/ 6472675 w 6472675"/>
              <a:gd name="connsiteY11" fmla="*/ 1483338 h 6817047"/>
              <a:gd name="connsiteX12" fmla="*/ 6472675 w 6472675"/>
              <a:gd name="connsiteY12" fmla="*/ 2962217 h 6817047"/>
              <a:gd name="connsiteX13" fmla="*/ 5527377 w 6472675"/>
              <a:gd name="connsiteY13" fmla="*/ 4101526 h 6817047"/>
              <a:gd name="connsiteX14" fmla="*/ 4816238 w 6472675"/>
              <a:gd name="connsiteY14" fmla="*/ 4167710 h 6817047"/>
              <a:gd name="connsiteX15" fmla="*/ 4816240 w 6472675"/>
              <a:gd name="connsiteY15" fmla="*/ 4167710 h 6817047"/>
              <a:gd name="connsiteX16" fmla="*/ 4750055 w 6472675"/>
              <a:gd name="connsiteY16" fmla="*/ 3456571 h 6817047"/>
              <a:gd name="connsiteX17" fmla="*/ 6265936 w 6472675"/>
              <a:gd name="connsiteY17" fmla="*/ 1629574 h 6817047"/>
              <a:gd name="connsiteX18" fmla="*/ 6422001 w 6472675"/>
              <a:gd name="connsiteY18" fmla="*/ 1503631 h 6817047"/>
              <a:gd name="connsiteX19" fmla="*/ 766798 w 6472675"/>
              <a:gd name="connsiteY19" fmla="*/ 1272958 h 6817047"/>
              <a:gd name="connsiteX20" fmla="*/ 1002248 w 6472675"/>
              <a:gd name="connsiteY20" fmla="*/ 1345765 h 6817047"/>
              <a:gd name="connsiteX21" fmla="*/ 1049096 w 6472675"/>
              <a:gd name="connsiteY21" fmla="*/ 1384634 h 6817047"/>
              <a:gd name="connsiteX22" fmla="*/ 1091294 w 6472675"/>
              <a:gd name="connsiteY22" fmla="*/ 1838054 h 6817047"/>
              <a:gd name="connsiteX23" fmla="*/ 616667 w 6472675"/>
              <a:gd name="connsiteY23" fmla="*/ 2410092 h 6817047"/>
              <a:gd name="connsiteX24" fmla="*/ 163248 w 6472675"/>
              <a:gd name="connsiteY24" fmla="*/ 2452291 h 6817047"/>
              <a:gd name="connsiteX25" fmla="*/ 116400 w 6472675"/>
              <a:gd name="connsiteY25" fmla="*/ 2413422 h 6817047"/>
              <a:gd name="connsiteX26" fmla="*/ 74201 w 6472675"/>
              <a:gd name="connsiteY26" fmla="*/ 1960002 h 6817047"/>
              <a:gd name="connsiteX27" fmla="*/ 548827 w 6472675"/>
              <a:gd name="connsiteY27" fmla="*/ 1387964 h 6817047"/>
              <a:gd name="connsiteX28" fmla="*/ 766798 w 6472675"/>
              <a:gd name="connsiteY28" fmla="*/ 1272958 h 6817047"/>
              <a:gd name="connsiteX29" fmla="*/ 6001934 w 6472675"/>
              <a:gd name="connsiteY29" fmla="*/ 0 h 6817047"/>
              <a:gd name="connsiteX30" fmla="*/ 6472675 w 6472675"/>
              <a:gd name="connsiteY30" fmla="*/ 0 h 6817047"/>
              <a:gd name="connsiteX31" fmla="*/ 6472675 w 6472675"/>
              <a:gd name="connsiteY31" fmla="*/ 1170767 h 6817047"/>
              <a:gd name="connsiteX32" fmla="*/ 3682557 w 6472675"/>
              <a:gd name="connsiteY32" fmla="*/ 4533523 h 6817047"/>
              <a:gd name="connsiteX33" fmla="*/ 2884119 w 6472675"/>
              <a:gd name="connsiteY33" fmla="*/ 4607833 h 6817047"/>
              <a:gd name="connsiteX34" fmla="*/ 2809809 w 6472675"/>
              <a:gd name="connsiteY34" fmla="*/ 3809394 h 6817047"/>
              <a:gd name="connsiteX35" fmla="*/ 5884299 w 6472675"/>
              <a:gd name="connsiteY35" fmla="*/ 103902 h 6817047"/>
              <a:gd name="connsiteX36" fmla="*/ 5966133 w 6472675"/>
              <a:gd name="connsiteY36" fmla="*/ 23314 h 6817047"/>
              <a:gd name="connsiteX37" fmla="*/ 2942224 w 6472675"/>
              <a:gd name="connsiteY37" fmla="*/ 0 h 6817047"/>
              <a:gd name="connsiteX38" fmla="*/ 4961087 w 6472675"/>
              <a:gd name="connsiteY38" fmla="*/ 0 h 6817047"/>
              <a:gd name="connsiteX39" fmla="*/ 5015711 w 6472675"/>
              <a:gd name="connsiteY39" fmla="*/ 136398 h 6817047"/>
              <a:gd name="connsiteX40" fmla="*/ 4810439 w 6472675"/>
              <a:gd name="connsiteY40" fmla="*/ 1129060 h 6817047"/>
              <a:gd name="connsiteX41" fmla="*/ 2202622 w 6472675"/>
              <a:gd name="connsiteY41" fmla="*/ 4272100 h 6817047"/>
              <a:gd name="connsiteX42" fmla="*/ 682753 w 6472675"/>
              <a:gd name="connsiteY42" fmla="*/ 4413552 h 6817047"/>
              <a:gd name="connsiteX43" fmla="*/ 541302 w 6472675"/>
              <a:gd name="connsiteY43" fmla="*/ 2893683 h 6817047"/>
              <a:gd name="connsiteX44" fmla="*/ 1816360 w 6472675"/>
              <a:gd name="connsiteY44" fmla="*/ 0 h 6817047"/>
              <a:gd name="connsiteX45" fmla="*/ 2732272 w 6472675"/>
              <a:gd name="connsiteY45" fmla="*/ 0 h 6817047"/>
              <a:gd name="connsiteX46" fmla="*/ 1722046 w 6472675"/>
              <a:gd name="connsiteY46" fmla="*/ 1217562 h 6817047"/>
              <a:gd name="connsiteX47" fmla="*/ 1225767 w 6472675"/>
              <a:gd name="connsiteY47" fmla="*/ 1263750 h 6817047"/>
              <a:gd name="connsiteX48" fmla="*/ 1225768 w 6472675"/>
              <a:gd name="connsiteY48" fmla="*/ 1263750 h 6817047"/>
              <a:gd name="connsiteX49" fmla="*/ 1179580 w 6472675"/>
              <a:gd name="connsiteY49" fmla="*/ 767471 h 681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472675" h="6817047">
                <a:moveTo>
                  <a:pt x="4316865" y="4369377"/>
                </a:moveTo>
                <a:cubicBezTo>
                  <a:pt x="4574541" y="4369377"/>
                  <a:pt x="4783429" y="4566941"/>
                  <a:pt x="4783429" y="4810649"/>
                </a:cubicBezTo>
                <a:cubicBezTo>
                  <a:pt x="4783429" y="5054357"/>
                  <a:pt x="4574541" y="5251921"/>
                  <a:pt x="4316865" y="5251921"/>
                </a:cubicBezTo>
                <a:cubicBezTo>
                  <a:pt x="4059189" y="5251921"/>
                  <a:pt x="3850301" y="5054357"/>
                  <a:pt x="3850301" y="4810649"/>
                </a:cubicBezTo>
                <a:cubicBezTo>
                  <a:pt x="3850301" y="4566941"/>
                  <a:pt x="4059189" y="4369377"/>
                  <a:pt x="4316865" y="4369377"/>
                </a:cubicBezTo>
                <a:close/>
                <a:moveTo>
                  <a:pt x="6472675" y="3239551"/>
                </a:moveTo>
                <a:lnTo>
                  <a:pt x="6472675" y="5184754"/>
                </a:lnTo>
                <a:lnTo>
                  <a:pt x="5304612" y="6592548"/>
                </a:lnTo>
                <a:cubicBezTo>
                  <a:pt x="5085598" y="6856512"/>
                  <a:pt x="4694068" y="6892951"/>
                  <a:pt x="4430104" y="6673937"/>
                </a:cubicBezTo>
                <a:lnTo>
                  <a:pt x="4430105" y="6673937"/>
                </a:lnTo>
                <a:cubicBezTo>
                  <a:pt x="4166141" y="6454923"/>
                  <a:pt x="4129702" y="6063392"/>
                  <a:pt x="4348716" y="5799428"/>
                </a:cubicBezTo>
                <a:close/>
                <a:moveTo>
                  <a:pt x="6472675" y="1483338"/>
                </a:moveTo>
                <a:lnTo>
                  <a:pt x="6472675" y="2962217"/>
                </a:lnTo>
                <a:lnTo>
                  <a:pt x="5527377" y="4101526"/>
                </a:lnTo>
                <a:cubicBezTo>
                  <a:pt x="5349278" y="4316177"/>
                  <a:pt x="5030890" y="4345809"/>
                  <a:pt x="4816238" y="4167710"/>
                </a:cubicBezTo>
                <a:lnTo>
                  <a:pt x="4816240" y="4167710"/>
                </a:lnTo>
                <a:cubicBezTo>
                  <a:pt x="4601588" y="3989611"/>
                  <a:pt x="4571956" y="3671223"/>
                  <a:pt x="4750055" y="3456571"/>
                </a:cubicBezTo>
                <a:lnTo>
                  <a:pt x="6265936" y="1629574"/>
                </a:lnTo>
                <a:cubicBezTo>
                  <a:pt x="6310461" y="1575911"/>
                  <a:pt x="6363753" y="1533812"/>
                  <a:pt x="6422001" y="1503631"/>
                </a:cubicBezTo>
                <a:close/>
                <a:moveTo>
                  <a:pt x="766798" y="1272958"/>
                </a:moveTo>
                <a:cubicBezTo>
                  <a:pt x="848850" y="1265322"/>
                  <a:pt x="933818" y="1288987"/>
                  <a:pt x="1002248" y="1345765"/>
                </a:cubicBezTo>
                <a:lnTo>
                  <a:pt x="1049096" y="1384634"/>
                </a:lnTo>
                <a:cubicBezTo>
                  <a:pt x="1185956" y="1498190"/>
                  <a:pt x="1204850" y="1701193"/>
                  <a:pt x="1091294" y="1838054"/>
                </a:cubicBezTo>
                <a:lnTo>
                  <a:pt x="616667" y="2410092"/>
                </a:lnTo>
                <a:cubicBezTo>
                  <a:pt x="503112" y="2546954"/>
                  <a:pt x="300110" y="2565847"/>
                  <a:pt x="163248" y="2452291"/>
                </a:cubicBezTo>
                <a:lnTo>
                  <a:pt x="116400" y="2413422"/>
                </a:lnTo>
                <a:cubicBezTo>
                  <a:pt x="-20462" y="2299866"/>
                  <a:pt x="-39355" y="2096863"/>
                  <a:pt x="74201" y="1960002"/>
                </a:cubicBezTo>
                <a:lnTo>
                  <a:pt x="548827" y="1387964"/>
                </a:lnTo>
                <a:cubicBezTo>
                  <a:pt x="605605" y="1319533"/>
                  <a:pt x="684745" y="1280595"/>
                  <a:pt x="766798" y="1272958"/>
                </a:cubicBezTo>
                <a:close/>
                <a:moveTo>
                  <a:pt x="6001934" y="0"/>
                </a:moveTo>
                <a:lnTo>
                  <a:pt x="6472675" y="0"/>
                </a:lnTo>
                <a:lnTo>
                  <a:pt x="6472675" y="1170767"/>
                </a:lnTo>
                <a:lnTo>
                  <a:pt x="3682557" y="4533523"/>
                </a:lnTo>
                <a:cubicBezTo>
                  <a:pt x="3482595" y="4774526"/>
                  <a:pt x="3125122" y="4807795"/>
                  <a:pt x="2884119" y="4607833"/>
                </a:cubicBezTo>
                <a:cubicBezTo>
                  <a:pt x="2643116" y="4407870"/>
                  <a:pt x="2609847" y="4050397"/>
                  <a:pt x="2809809" y="3809394"/>
                </a:cubicBezTo>
                <a:lnTo>
                  <a:pt x="5884299" y="103902"/>
                </a:lnTo>
                <a:cubicBezTo>
                  <a:pt x="5909294" y="73777"/>
                  <a:pt x="5936751" y="46898"/>
                  <a:pt x="5966133" y="23314"/>
                </a:cubicBezTo>
                <a:close/>
                <a:moveTo>
                  <a:pt x="2942224" y="0"/>
                </a:moveTo>
                <a:lnTo>
                  <a:pt x="4961087" y="0"/>
                </a:lnTo>
                <a:lnTo>
                  <a:pt x="5015711" y="136398"/>
                </a:lnTo>
                <a:cubicBezTo>
                  <a:pt x="5112812" y="469005"/>
                  <a:pt x="5048338" y="842335"/>
                  <a:pt x="4810439" y="1129060"/>
                </a:cubicBezTo>
                <a:lnTo>
                  <a:pt x="2202622" y="4272100"/>
                </a:lnTo>
                <a:cubicBezTo>
                  <a:pt x="1821982" y="4730862"/>
                  <a:pt x="1141515" y="4794192"/>
                  <a:pt x="682753" y="4413552"/>
                </a:cubicBezTo>
                <a:cubicBezTo>
                  <a:pt x="223992" y="4032912"/>
                  <a:pt x="160662" y="3352444"/>
                  <a:pt x="541302" y="2893683"/>
                </a:cubicBezTo>
                <a:close/>
                <a:moveTo>
                  <a:pt x="1816360" y="0"/>
                </a:moveTo>
                <a:lnTo>
                  <a:pt x="2732272" y="0"/>
                </a:lnTo>
                <a:lnTo>
                  <a:pt x="1722046" y="1217562"/>
                </a:lnTo>
                <a:cubicBezTo>
                  <a:pt x="1597756" y="1367360"/>
                  <a:pt x="1375565" y="1388039"/>
                  <a:pt x="1225767" y="1263750"/>
                </a:cubicBezTo>
                <a:lnTo>
                  <a:pt x="1225768" y="1263750"/>
                </a:lnTo>
                <a:cubicBezTo>
                  <a:pt x="1075970" y="1139460"/>
                  <a:pt x="1055290" y="917269"/>
                  <a:pt x="1179580" y="767471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>
            <a:innerShdw blurRad="838200" dist="50800" dir="906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98AFCC1-277F-9615-66B8-CFA791EA6110}"/>
              </a:ext>
            </a:extLst>
          </p:cNvPr>
          <p:cNvGraphicFramePr>
            <a:graphicFrameLocks/>
          </p:cNvGraphicFramePr>
          <p:nvPr/>
        </p:nvGraphicFramePr>
        <p:xfrm>
          <a:off x="13611378" y="1533566"/>
          <a:ext cx="6073448" cy="3790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FEE08A-4638-A8CC-D95D-A21C6D25066B}"/>
              </a:ext>
            </a:extLst>
          </p:cNvPr>
          <p:cNvSpPr txBox="1"/>
          <p:nvPr/>
        </p:nvSpPr>
        <p:spPr>
          <a:xfrm>
            <a:off x="-14237480" y="766095"/>
            <a:ext cx="6402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PROFITABILITY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36D32-90CF-CBD6-4C82-F1A02C48E042}"/>
              </a:ext>
            </a:extLst>
          </p:cNvPr>
          <p:cNvSpPr txBox="1"/>
          <p:nvPr/>
        </p:nvSpPr>
        <p:spPr>
          <a:xfrm>
            <a:off x="-14775363" y="6858000"/>
            <a:ext cx="6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Government </a:t>
            </a:r>
            <a:r>
              <a:rPr lang="en-US" dirty="0">
                <a:solidFill>
                  <a:schemeClr val="bg1"/>
                </a:solidFill>
              </a:rPr>
              <a:t>segment was the primary profit driver, while the </a:t>
            </a:r>
            <a:r>
              <a:rPr lang="en-US" b="1" dirty="0">
                <a:solidFill>
                  <a:schemeClr val="bg1"/>
                </a:solidFill>
              </a:rPr>
              <a:t> Enterprise </a:t>
            </a:r>
            <a:r>
              <a:rPr lang="en-US" dirty="0">
                <a:solidFill>
                  <a:schemeClr val="bg1"/>
                </a:solidFill>
              </a:rPr>
              <a:t>recorded a loss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1EA1A0F-1D4A-3E96-A5A7-4B90DE2A5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8097442"/>
              </p:ext>
            </p:extLst>
          </p:nvPr>
        </p:nvGraphicFramePr>
        <p:xfrm>
          <a:off x="-9826571" y="2274850"/>
          <a:ext cx="6555697" cy="3687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436234-4FA2-8A6F-2F56-AFF11E9B9376}"/>
              </a:ext>
            </a:extLst>
          </p:cNvPr>
          <p:cNvSpPr txBox="1"/>
          <p:nvPr/>
        </p:nvSpPr>
        <p:spPr>
          <a:xfrm>
            <a:off x="223284" y="361507"/>
            <a:ext cx="6145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68275-E7F5-E017-9DF6-BAA744637231}"/>
              </a:ext>
            </a:extLst>
          </p:cNvPr>
          <p:cNvSpPr txBox="1"/>
          <p:nvPr/>
        </p:nvSpPr>
        <p:spPr>
          <a:xfrm>
            <a:off x="404037" y="1456660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Increase investment in the Government segment because it generates the largest share of the profit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880C4-8A03-7FFC-5F9E-138414CD5325}"/>
              </a:ext>
            </a:extLst>
          </p:cNvPr>
          <p:cNvSpPr txBox="1"/>
          <p:nvPr/>
        </p:nvSpPr>
        <p:spPr>
          <a:xfrm>
            <a:off x="404036" y="2407791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Expand sales of </a:t>
            </a:r>
            <a:r>
              <a:rPr lang="en-US" b="1" dirty="0">
                <a:solidFill>
                  <a:schemeClr val="bg1"/>
                </a:solidFill>
              </a:rPr>
              <a:t>Paseo</a:t>
            </a:r>
            <a:r>
              <a:rPr lang="en-US" dirty="0">
                <a:solidFill>
                  <a:schemeClr val="bg1"/>
                </a:solidFill>
              </a:rPr>
              <a:t> products due to their strong profitability.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29D63-A655-A269-3E01-1D90E2A5660F}"/>
              </a:ext>
            </a:extLst>
          </p:cNvPr>
          <p:cNvSpPr txBox="1"/>
          <p:nvPr/>
        </p:nvSpPr>
        <p:spPr>
          <a:xfrm>
            <a:off x="404035" y="3358922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Investigate the </a:t>
            </a:r>
            <a:r>
              <a:rPr lang="en-US" b="1" dirty="0">
                <a:solidFill>
                  <a:schemeClr val="bg1"/>
                </a:solidFill>
              </a:rPr>
              <a:t>Enterprise </a:t>
            </a:r>
            <a:r>
              <a:rPr lang="en-US" dirty="0">
                <a:solidFill>
                  <a:schemeClr val="bg1"/>
                </a:solidFill>
              </a:rPr>
              <a:t>segment so as to determine why it is producing losses.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A5088-D4B6-30A3-8CBB-8B12F4D2F80E}"/>
              </a:ext>
            </a:extLst>
          </p:cNvPr>
          <p:cNvSpPr txBox="1"/>
          <p:nvPr/>
        </p:nvSpPr>
        <p:spPr>
          <a:xfrm>
            <a:off x="404034" y="4310053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Review discount policies and assess whether discounting is reducing profit margins unnecessarily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17076B-605C-2F0B-61D7-D68B2DC382EF}"/>
              </a:ext>
            </a:extLst>
          </p:cNvPr>
          <p:cNvSpPr txBox="1"/>
          <p:nvPr/>
        </p:nvSpPr>
        <p:spPr>
          <a:xfrm>
            <a:off x="404033" y="5261184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Focus marketing efforts during Q4, when revenue is historically strongest.</a:t>
            </a:r>
          </a:p>
        </p:txBody>
      </p:sp>
    </p:spTree>
    <p:extLst>
      <p:ext uri="{BB962C8B-B14F-4D97-AF65-F5344CB8AC3E}">
        <p14:creationId xmlns:p14="http://schemas.microsoft.com/office/powerpoint/2010/main" val="34823967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762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2026-06-09T12:59:01Z</dcterms:created>
  <dcterms:modified xsi:type="dcterms:W3CDTF">2026-06-16T14:34:14Z</dcterms:modified>
</cp:coreProperties>
</file>